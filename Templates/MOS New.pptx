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handoutMasterIdLst>
    <p:handoutMasterId r:id="rId19"/>
  </p:handoutMasterIdLst>
  <p:sldIdLst>
    <p:sldId id="256" r:id="rId2"/>
    <p:sldId id="258" r:id="rId3"/>
    <p:sldId id="259" r:id="rId4"/>
    <p:sldId id="260" r:id="rId5"/>
    <p:sldId id="261" r:id="rId6"/>
    <p:sldId id="262" r:id="rId7"/>
    <p:sldId id="263" r:id="rId8"/>
    <p:sldId id="264" r:id="rId9"/>
    <p:sldId id="265" r:id="rId10"/>
    <p:sldId id="313" r:id="rId11"/>
    <p:sldId id="266" r:id="rId12"/>
    <p:sldId id="267" r:id="rId13"/>
    <p:sldId id="269" r:id="rId14"/>
    <p:sldId id="270" r:id="rId15"/>
    <p:sldId id="325" r:id="rId16"/>
    <p:sldId id="314" r:id="rId1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0" autoAdjust="0"/>
    <p:restoredTop sz="94660"/>
  </p:normalViewPr>
  <p:slideViewPr>
    <p:cSldViewPr snapToGrid="0">
      <p:cViewPr varScale="1">
        <p:scale>
          <a:sx n="73" d="100"/>
          <a:sy n="73" d="100"/>
        </p:scale>
        <p:origin x="33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AE9F01-2E6E-1D44-84E8-D8CDA6337E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ERIC WONG MACHINERY TRANSPORTATION PTE LTD</a:t>
            </a:r>
            <a:endParaRPr lang="en-SG"/>
          </a:p>
        </p:txBody>
      </p:sp>
      <p:sp>
        <p:nvSpPr>
          <p:cNvPr id="3" name="Date Placeholder 2">
            <a:extLst>
              <a:ext uri="{FF2B5EF4-FFF2-40B4-BE49-F238E27FC236}">
                <a16:creationId xmlns:a16="http://schemas.microsoft.com/office/drawing/2014/main" id="{B554D7B4-A770-1D4B-ADCC-9E32B6C0A8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06D17F-E4B4-4820-A4BE-0384D31174A0}" type="datetimeFigureOut">
              <a:rPr lang="en-SG" smtClean="0"/>
              <a:t>2/9/2026</a:t>
            </a:fld>
            <a:endParaRPr lang="en-SG"/>
          </a:p>
        </p:txBody>
      </p:sp>
      <p:sp>
        <p:nvSpPr>
          <p:cNvPr id="4" name="Footer Placeholder 3">
            <a:extLst>
              <a:ext uri="{FF2B5EF4-FFF2-40B4-BE49-F238E27FC236}">
                <a16:creationId xmlns:a16="http://schemas.microsoft.com/office/drawing/2014/main" id="{A181928B-B887-7304-265E-70320B561E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1D19EF4-4151-0949-6440-A3FBB45B45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B2795E-BF31-411B-8EA0-637831C369C7}" type="slidenum">
              <a:rPr lang="en-SG" smtClean="0"/>
              <a:t>‹#›</a:t>
            </a:fld>
            <a:endParaRPr lang="en-SG"/>
          </a:p>
        </p:txBody>
      </p:sp>
    </p:spTree>
    <p:extLst>
      <p:ext uri="{BB962C8B-B14F-4D97-AF65-F5344CB8AC3E}">
        <p14:creationId xmlns:p14="http://schemas.microsoft.com/office/powerpoint/2010/main" val="36143229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ERIC WONG MACHINERY TRANSPORTATION PTE LTD</a:t>
            </a:r>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5A462-7DEF-46C0-A9B4-8893538CBD9C}" type="datetimeFigureOut">
              <a:rPr lang="en-SG" smtClean="0"/>
              <a:t>2/9/2026</a:t>
            </a:fld>
            <a:endParaRPr lang="en-SG"/>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F8780E-3497-47FA-A978-7A1DC6A94EE6}" type="slidenum">
              <a:rPr lang="en-SG" smtClean="0"/>
              <a:t>‹#›</a:t>
            </a:fld>
            <a:endParaRPr lang="en-SG"/>
          </a:p>
        </p:txBody>
      </p:sp>
    </p:spTree>
    <p:extLst>
      <p:ext uri="{BB962C8B-B14F-4D97-AF65-F5344CB8AC3E}">
        <p14:creationId xmlns:p14="http://schemas.microsoft.com/office/powerpoint/2010/main" val="7394536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5" name="Slide Number Placeholder 4">
            <a:extLst>
              <a:ext uri="{FF2B5EF4-FFF2-40B4-BE49-F238E27FC236}">
                <a16:creationId xmlns:a16="http://schemas.microsoft.com/office/drawing/2014/main" id="{F54BDFDD-8A37-7C10-7EE8-2AF1696EF5BA}"/>
              </a:ext>
            </a:extLst>
          </p:cNvPr>
          <p:cNvSpPr>
            <a:spLocks noGrp="1"/>
          </p:cNvSpPr>
          <p:nvPr>
            <p:ph type="sldNum" sz="quarter" idx="5"/>
          </p:nvPr>
        </p:nvSpPr>
        <p:spPr/>
        <p:txBody>
          <a:bodyPr/>
          <a:lstStyle/>
          <a:p>
            <a:fld id="{34F8780E-3497-47FA-A978-7A1DC6A94EE6}" type="slidenum">
              <a:rPr lang="en-SG" smtClean="0"/>
              <a:t>9</a:t>
            </a:fld>
            <a:endParaRPr lang="en-SG"/>
          </a:p>
        </p:txBody>
      </p:sp>
    </p:spTree>
    <p:extLst>
      <p:ext uri="{BB962C8B-B14F-4D97-AF65-F5344CB8AC3E}">
        <p14:creationId xmlns:p14="http://schemas.microsoft.com/office/powerpoint/2010/main" val="1965202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2663C-B220-B559-67BA-A19612A54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B3C59-E290-B110-F9BB-999B87529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5726C-C813-911C-1F3C-CAB70734B409}"/>
              </a:ext>
            </a:extLst>
          </p:cNvPr>
          <p:cNvSpPr>
            <a:spLocks noGrp="1"/>
          </p:cNvSpPr>
          <p:nvPr>
            <p:ph type="body" idx="1"/>
          </p:nvPr>
        </p:nvSpPr>
        <p:spPr/>
        <p:txBody>
          <a:bodyPr/>
          <a:lstStyle/>
          <a:p>
            <a:endParaRPr lang="en-SG" dirty="0"/>
          </a:p>
        </p:txBody>
      </p:sp>
      <p:sp>
        <p:nvSpPr>
          <p:cNvPr id="5" name="Slide Number Placeholder 4">
            <a:extLst>
              <a:ext uri="{FF2B5EF4-FFF2-40B4-BE49-F238E27FC236}">
                <a16:creationId xmlns:a16="http://schemas.microsoft.com/office/drawing/2014/main" id="{4E8CC5DE-B82F-95D4-04D1-D460D4FCE707}"/>
              </a:ext>
            </a:extLst>
          </p:cNvPr>
          <p:cNvSpPr>
            <a:spLocks noGrp="1"/>
          </p:cNvSpPr>
          <p:nvPr>
            <p:ph type="sldNum" sz="quarter" idx="5"/>
          </p:nvPr>
        </p:nvSpPr>
        <p:spPr/>
        <p:txBody>
          <a:bodyPr/>
          <a:lstStyle/>
          <a:p>
            <a:fld id="{34F8780E-3497-47FA-A978-7A1DC6A94EE6}" type="slidenum">
              <a:rPr lang="en-SG" smtClean="0"/>
              <a:t>10</a:t>
            </a:fld>
            <a:endParaRPr lang="en-SG"/>
          </a:p>
        </p:txBody>
      </p:sp>
    </p:spTree>
    <p:extLst>
      <p:ext uri="{BB962C8B-B14F-4D97-AF65-F5344CB8AC3E}">
        <p14:creationId xmlns:p14="http://schemas.microsoft.com/office/powerpoint/2010/main" val="2307239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A9A5E4-9D84-4DC7-9128-85DFE0CC6F6D}" type="datetime1">
              <a:rPr lang="en-SG" smtClean="0"/>
              <a:t>2/9/2026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3897290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DCCA85-04C4-4CA2-986D-42E8E71F131F}" type="datetime1">
              <a:rPr lang="en-SG" smtClean="0"/>
              <a:t>2/9/2026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2173437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CF5C94-43CA-4A19-AD03-438E93C1139C}" type="datetime1">
              <a:rPr lang="en-SG" smtClean="0"/>
              <a:t>2/9/2026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3693928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36F022-0714-4A90-B5EA-C8B2B851CBA8}" type="datetime1">
              <a:rPr lang="en-SG" smtClean="0"/>
              <a:t>2/9/2026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165318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93FF73-5C5A-4B77-BF7B-C9EECA6CDB5F}" type="datetime1">
              <a:rPr lang="en-SG" smtClean="0"/>
              <a:t>2/9/2026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4017783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452109-4DFE-4E29-9DE2-FEC0FD5AFE5A}" type="datetime1">
              <a:rPr lang="en-SG" smtClean="0"/>
              <a:t>2/9/2026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2453648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934439-5E6F-4079-8501-35A945881991}" type="datetime1">
              <a:rPr lang="en-SG" smtClean="0"/>
              <a:t>2/9/2026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36675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8750931-BAEE-48D1-80D1-12FA3AC9F16B}" type="datetime1">
              <a:rPr lang="en-SG" smtClean="0"/>
              <a:t>2/9/2026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1345285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DC4A7DB-4EE6-47B2-BF6E-0D6E6FAE7EB5}" type="datetime1">
              <a:rPr lang="en-SG" smtClean="0"/>
              <a:t>2/9/2026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332656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E8396-67A2-497C-B9A0-2407E3E357B5}" type="datetime1">
              <a:rPr lang="en-SG" smtClean="0"/>
              <a:t>2/9/2026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3533155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E924FB-569A-4D1B-87D6-23A0321F24D5}" type="datetime1">
              <a:rPr lang="en-SG" smtClean="0"/>
              <a:t>2/9/2026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F0052729-9336-4E5B-BC69-5177B8B6DD05}" type="slidenum">
              <a:rPr lang="en-SG" smtClean="0"/>
              <a:t>‹#›</a:t>
            </a:fld>
            <a:endParaRPr lang="en-SG"/>
          </a:p>
        </p:txBody>
      </p:sp>
    </p:spTree>
    <p:extLst>
      <p:ext uri="{BB962C8B-B14F-4D97-AF65-F5344CB8AC3E}">
        <p14:creationId xmlns:p14="http://schemas.microsoft.com/office/powerpoint/2010/main" val="2801177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00B7D629-4347-4FB3-82EA-8AAB0540DD70}" type="datetime1">
              <a:rPr lang="en-SG" smtClean="0"/>
              <a:t>2/9/2026</a:t>
            </a:fld>
            <a:endParaRPr lang="en-SG"/>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0052729-9336-4E5B-BC69-5177B8B6DD05}" type="slidenum">
              <a:rPr lang="en-SG" smtClean="0"/>
              <a:t>‹#›</a:t>
            </a:fld>
            <a:endParaRPr lang="en-SG"/>
          </a:p>
        </p:txBody>
      </p:sp>
    </p:spTree>
    <p:extLst>
      <p:ext uri="{BB962C8B-B14F-4D97-AF65-F5344CB8AC3E}">
        <p14:creationId xmlns:p14="http://schemas.microsoft.com/office/powerpoint/2010/main" val="2868222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jp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hyperlink" Target="http://www.ericwong.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hyperlink" Target="http://www.ericwong.co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icwong.com/"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B715941-0F25-F36B-734F-D0C8158FDAFE}"/>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DDB592E4-D747-19FB-AAA6-B86D0FDA168D}"/>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0DDB1327-25B1-33E6-E15F-C86D528DA0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17" name="TextBox 16">
            <a:extLst>
              <a:ext uri="{FF2B5EF4-FFF2-40B4-BE49-F238E27FC236}">
                <a16:creationId xmlns:a16="http://schemas.microsoft.com/office/drawing/2014/main" id="{05445A98-812A-C9FF-6A89-22D8E99A3A3C}"/>
              </a:ext>
            </a:extLst>
          </p:cNvPr>
          <p:cNvSpPr txBox="1"/>
          <p:nvPr/>
        </p:nvSpPr>
        <p:spPr>
          <a:xfrm>
            <a:off x="2" y="4999852"/>
            <a:ext cx="6857998" cy="1938992"/>
          </a:xfrm>
          <a:prstGeom prst="rect">
            <a:avLst/>
          </a:prstGeom>
          <a:noFill/>
        </p:spPr>
        <p:txBody>
          <a:bodyPr wrap="square" rtlCol="0">
            <a:spAutoFit/>
          </a:bodyPr>
          <a:lstStyle/>
          <a:p>
            <a:pPr algn="ctr"/>
            <a:r>
              <a:rPr lang="en-SG" sz="2400" b="0" i="0" u="none" strike="noStrike" baseline="0" dirty="0">
                <a:solidFill>
                  <a:srgbClr val="000000"/>
                </a:solidFill>
                <a:latin typeface="Arial" panose="020B0604020202020204" pitchFamily="34" charset="0"/>
              </a:rPr>
              <a:t> Method Statement,</a:t>
            </a:r>
          </a:p>
          <a:p>
            <a:pPr algn="ctr"/>
            <a:r>
              <a:rPr lang="en-SG" sz="2400" b="0" i="0" u="none" strike="noStrike" baseline="0" dirty="0">
                <a:solidFill>
                  <a:srgbClr val="000000"/>
                </a:solidFill>
                <a:latin typeface="Arial" panose="020B0604020202020204" pitchFamily="34" charset="0"/>
              </a:rPr>
              <a:t>Lifting Plan and</a:t>
            </a:r>
          </a:p>
          <a:p>
            <a:pPr algn="ctr"/>
            <a:r>
              <a:rPr lang="en-SG" sz="2400" b="0" i="0" u="none" strike="noStrike" baseline="0" dirty="0">
                <a:solidFill>
                  <a:srgbClr val="000000"/>
                </a:solidFill>
                <a:latin typeface="Arial" panose="020B0604020202020204" pitchFamily="34" charset="0"/>
              </a:rPr>
              <a:t>Safe Work Procedure </a:t>
            </a:r>
          </a:p>
          <a:p>
            <a:pPr algn="ctr"/>
            <a:r>
              <a:rPr lang="en-US" sz="2400" b="0" i="0" u="none" strike="noStrike" baseline="0" dirty="0">
                <a:solidFill>
                  <a:srgbClr val="000000"/>
                </a:solidFill>
                <a:latin typeface="Arial" panose="020B0604020202020204" pitchFamily="34" charset="0"/>
              </a:rPr>
              <a:t>For Lifting and Machinery Moving Operation</a:t>
            </a:r>
          </a:p>
          <a:p>
            <a:pPr algn="ctr"/>
            <a:r>
              <a:rPr lang="en-US" sz="2400" b="0" i="0" u="none" strike="noStrike" baseline="0" dirty="0">
                <a:solidFill>
                  <a:srgbClr val="000000"/>
                </a:solidFill>
                <a:latin typeface="Arial" panose="020B0604020202020204" pitchFamily="34" charset="0"/>
              </a:rPr>
              <a:t> </a:t>
            </a:r>
            <a:endParaRPr lang="en-SG" sz="2400" dirty="0"/>
          </a:p>
        </p:txBody>
      </p:sp>
      <p:graphicFrame>
        <p:nvGraphicFramePr>
          <p:cNvPr id="29" name="Table 28">
            <a:extLst>
              <a:ext uri="{FF2B5EF4-FFF2-40B4-BE49-F238E27FC236}">
                <a16:creationId xmlns:a16="http://schemas.microsoft.com/office/drawing/2014/main" id="{1CE28615-A545-9639-B568-CCF06CDDC124}"/>
              </a:ext>
            </a:extLst>
          </p:cNvPr>
          <p:cNvGraphicFramePr>
            <a:graphicFrameLocks noGrp="1"/>
          </p:cNvGraphicFramePr>
          <p:nvPr>
            <p:extLst>
              <p:ext uri="{D42A27DB-BD31-4B8C-83A1-F6EECF244321}">
                <p14:modId xmlns:p14="http://schemas.microsoft.com/office/powerpoint/2010/main" val="421911070"/>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Singapore Mint</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30" name="Picture 29" descr="A close-up of a stamp&#10;&#10;AI-generated content may be incorrect.">
            <a:extLst>
              <a:ext uri="{FF2B5EF4-FFF2-40B4-BE49-F238E27FC236}">
                <a16:creationId xmlns:a16="http://schemas.microsoft.com/office/drawing/2014/main" id="{5E4FE10D-1234-5C26-E942-FA7E7B9F5B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C443BF05-1114-B584-4674-7B57256A2887}"/>
              </a:ext>
            </a:extLst>
          </p:cNvPr>
          <p:cNvSpPr>
            <a:spLocks noGrp="1"/>
          </p:cNvSpPr>
          <p:nvPr>
            <p:ph type="sldNum" sz="quarter" idx="12"/>
          </p:nvPr>
        </p:nvSpPr>
        <p:spPr/>
        <p:txBody>
          <a:bodyPr/>
          <a:lstStyle/>
          <a:p>
            <a:fld id="{F0052729-9336-4E5B-BC69-5177B8B6DD05}" type="slidenum">
              <a:rPr lang="en-SG" smtClean="0"/>
              <a:t>1</a:t>
            </a:fld>
            <a:endParaRPr lang="en-SG"/>
          </a:p>
        </p:txBody>
      </p:sp>
    </p:spTree>
    <p:extLst>
      <p:ext uri="{BB962C8B-B14F-4D97-AF65-F5344CB8AC3E}">
        <p14:creationId xmlns:p14="http://schemas.microsoft.com/office/powerpoint/2010/main" val="1395569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EC6FC-0672-673F-34B4-9E4031EE9AC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79EFB375-181A-C68A-BC1C-97E24E1337F0}"/>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EDA7A706-77F8-2CB9-9919-1B5B36404E00}"/>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0A7F4315-4EEF-4F1D-E0A7-0202101F6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2" name="TextBox 1">
            <a:extLst>
              <a:ext uri="{FF2B5EF4-FFF2-40B4-BE49-F238E27FC236}">
                <a16:creationId xmlns:a16="http://schemas.microsoft.com/office/drawing/2014/main" id="{730C7CF0-7F47-B0D6-0910-F3058F8F64DC}"/>
              </a:ext>
            </a:extLst>
          </p:cNvPr>
          <p:cNvSpPr txBox="1"/>
          <p:nvPr/>
        </p:nvSpPr>
        <p:spPr>
          <a:xfrm>
            <a:off x="213463" y="3009621"/>
            <a:ext cx="6431071" cy="5906425"/>
          </a:xfrm>
          <a:prstGeom prst="rect">
            <a:avLst/>
          </a:prstGeom>
          <a:noFill/>
        </p:spPr>
        <p:txBody>
          <a:bodyPr wrap="square" rtlCol="0">
            <a:spAutoFit/>
          </a:bodyPr>
          <a:lstStyle/>
          <a:p>
            <a:pPr>
              <a:lnSpc>
                <a:spcPct val="150000"/>
              </a:lnSpc>
            </a:pPr>
            <a:r>
              <a:rPr lang="en-SG" sz="1100" b="0" i="0" u="none" strike="noStrike" baseline="0" dirty="0">
                <a:solidFill>
                  <a:srgbClr val="000000"/>
                </a:solidFill>
                <a:latin typeface="Arial" panose="020B0604020202020204" pitchFamily="34" charset="0"/>
              </a:rPr>
              <a:t>Contents 										Pages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1.0 Workplace Safety and Health in the Workplace				    2</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2.0 Objectives 									    2 </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3.0 Scope 										    2 </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4.0 Responsibility 									    2 </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5.0 Site Survey 									    4 </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6.0 Risk Assessment 								    4 </a:t>
            </a:r>
            <a:endParaRPr lang="en-US"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7.0 Classifications of Lifts Types 							    4 </a:t>
            </a:r>
            <a:endParaRPr lang="en-SG"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8.0 Routine Lifts 									    5 </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9.0 Non-Routine Lifts 								    6 </a:t>
            </a:r>
            <a:endParaRPr lang="en-US"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10.0 A Non-Routine Lift is a lift which conforms to the following factors		    </a:t>
            </a:r>
            <a:r>
              <a:rPr lang="en-US" sz="1100" dirty="0">
                <a:solidFill>
                  <a:srgbClr val="000000"/>
                </a:solidFill>
                <a:latin typeface="Arial" panose="020B0604020202020204" pitchFamily="34" charset="0"/>
              </a:rPr>
              <a:t>8</a:t>
            </a:r>
            <a:r>
              <a:rPr lang="en-US" sz="1100" b="0" i="0" u="none" strike="noStrike" baseline="0" dirty="0">
                <a:solidFill>
                  <a:srgbClr val="000000"/>
                </a:solidFill>
                <a:latin typeface="Arial" panose="020B0604020202020204" pitchFamily="34" charset="0"/>
              </a:rPr>
              <a:t>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11.0 Competent Person(s) 							    9 </a:t>
            </a:r>
            <a:endParaRPr lang="en-SG"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12.0 Supervisors 									    9 </a:t>
            </a:r>
            <a:endParaRPr lang="en-US"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13.0 Operators /Riggers /Signalmen 						   10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14.0 Description of Load(s) to be lifted 						   10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15.10 Centre of Gravity (CG) of the load 						   11</a:t>
            </a:r>
            <a:endParaRPr lang="en-SG"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16.0 Crane Selection 								   11 </a:t>
            </a: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17.0 Ground &amp; Outriggers 								   11 </a:t>
            </a:r>
            <a:endParaRPr lang="en-US"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18.0 Access &amp; Lifting Location 						   	   12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19.0 A Pre-Start Meeting 								   12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20.0 Sequence of Lifting operation 						   13 </a:t>
            </a:r>
          </a:p>
          <a:p>
            <a:pPr marL="171450" indent="-171450">
              <a:lnSpc>
                <a:spcPct val="150000"/>
              </a:lnSpc>
              <a:buFont typeface="Wingdings" panose="05000000000000000000" pitchFamily="2" charset="2"/>
              <a:buChar char="q"/>
            </a:pPr>
            <a:r>
              <a:rPr lang="en-US" sz="1100" b="0" i="0" u="none" strike="noStrike" baseline="0" dirty="0">
                <a:solidFill>
                  <a:srgbClr val="000000"/>
                </a:solidFill>
                <a:latin typeface="Arial" panose="020B0604020202020204" pitchFamily="34" charset="0"/>
              </a:rPr>
              <a:t>21.0 Lifting operation checklist 							   26</a:t>
            </a:r>
            <a:endParaRPr lang="en-SG" sz="1100" b="0" i="0" u="none" strike="noStrike" baseline="0" dirty="0">
              <a:solidFill>
                <a:srgbClr val="000000"/>
              </a:solidFill>
              <a:latin typeface="Arial" panose="020B0604020202020204" pitchFamily="34" charset="0"/>
            </a:endParaRPr>
          </a:p>
          <a:p>
            <a:pPr marL="171450" indent="-171450">
              <a:lnSpc>
                <a:spcPct val="150000"/>
              </a:lnSpc>
              <a:buFont typeface="Wingdings" panose="05000000000000000000" pitchFamily="2" charset="2"/>
              <a:buChar char="q"/>
            </a:pPr>
            <a:r>
              <a:rPr lang="en-SG" sz="1100" b="0" i="0" u="none" strike="noStrike" baseline="0" dirty="0">
                <a:solidFill>
                  <a:srgbClr val="000000"/>
                </a:solidFill>
                <a:latin typeface="Arial" panose="020B0604020202020204" pitchFamily="34" charset="0"/>
              </a:rPr>
              <a:t>22.0 Emergency procedures 							</a:t>
            </a:r>
            <a:r>
              <a:rPr lang="en-SG" sz="1100" dirty="0">
                <a:solidFill>
                  <a:srgbClr val="000000"/>
                </a:solidFill>
                <a:latin typeface="Arial" panose="020B0604020202020204" pitchFamily="34" charset="0"/>
              </a:rPr>
              <a:t> </a:t>
            </a:r>
            <a:r>
              <a:rPr lang="en-SG" sz="1100" b="0" i="0" u="none" strike="noStrike" baseline="0" dirty="0">
                <a:solidFill>
                  <a:srgbClr val="000000"/>
                </a:solidFill>
                <a:latin typeface="Arial" panose="020B0604020202020204" pitchFamily="34" charset="0"/>
              </a:rPr>
              <a:t>  27</a:t>
            </a:r>
            <a:endParaRPr lang="en-SG" sz="1100" dirty="0"/>
          </a:p>
        </p:txBody>
      </p:sp>
      <p:graphicFrame>
        <p:nvGraphicFramePr>
          <p:cNvPr id="12" name="Table 11">
            <a:extLst>
              <a:ext uri="{FF2B5EF4-FFF2-40B4-BE49-F238E27FC236}">
                <a16:creationId xmlns:a16="http://schemas.microsoft.com/office/drawing/2014/main" id="{D2F6709C-23E8-B37C-8950-0044B1E68E4B}"/>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3" name="Picture 12" descr="A close-up of a stamp&#10;&#10;AI-generated content may be incorrect.">
            <a:extLst>
              <a:ext uri="{FF2B5EF4-FFF2-40B4-BE49-F238E27FC236}">
                <a16:creationId xmlns:a16="http://schemas.microsoft.com/office/drawing/2014/main" id="{81D7C308-841F-6C96-0649-013E9A87D7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4" name="Slide Number Placeholder 3">
            <a:extLst>
              <a:ext uri="{FF2B5EF4-FFF2-40B4-BE49-F238E27FC236}">
                <a16:creationId xmlns:a16="http://schemas.microsoft.com/office/drawing/2014/main" id="{0E8E572A-2DE5-7111-7149-2D8B91173082}"/>
              </a:ext>
            </a:extLst>
          </p:cNvPr>
          <p:cNvSpPr>
            <a:spLocks noGrp="1"/>
          </p:cNvSpPr>
          <p:nvPr>
            <p:ph type="sldNum" sz="quarter" idx="12"/>
          </p:nvPr>
        </p:nvSpPr>
        <p:spPr/>
        <p:txBody>
          <a:bodyPr/>
          <a:lstStyle/>
          <a:p>
            <a:fld id="{F0052729-9336-4E5B-BC69-5177B8B6DD05}" type="slidenum">
              <a:rPr lang="en-SG" smtClean="0"/>
              <a:t>2</a:t>
            </a:fld>
            <a:endParaRPr lang="en-SG"/>
          </a:p>
        </p:txBody>
      </p:sp>
    </p:spTree>
    <p:extLst>
      <p:ext uri="{BB962C8B-B14F-4D97-AF65-F5344CB8AC3E}">
        <p14:creationId xmlns:p14="http://schemas.microsoft.com/office/powerpoint/2010/main" val="3444258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58A2-6249-9B8D-BED7-F204BF58FA5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54472C3-EFA3-B27D-D915-EA6C70EBC739}"/>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9FF5DA16-C695-2012-6A4B-71BB8EB6DCCF}"/>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96A637E4-E57A-1BFE-091A-893ACA64D5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3" name="TextBox 2">
            <a:extLst>
              <a:ext uri="{FF2B5EF4-FFF2-40B4-BE49-F238E27FC236}">
                <a16:creationId xmlns:a16="http://schemas.microsoft.com/office/drawing/2014/main" id="{9AA54EC7-5AFE-3CF0-D734-55F094E159EA}"/>
              </a:ext>
            </a:extLst>
          </p:cNvPr>
          <p:cNvSpPr txBox="1"/>
          <p:nvPr/>
        </p:nvSpPr>
        <p:spPr>
          <a:xfrm>
            <a:off x="126999" y="3275291"/>
            <a:ext cx="6603999" cy="5786199"/>
          </a:xfrm>
          <a:prstGeom prst="rect">
            <a:avLst/>
          </a:prstGeom>
          <a:noFill/>
        </p:spPr>
        <p:txBody>
          <a:bodyPr wrap="square">
            <a:spAutoFit/>
          </a:bodyPr>
          <a:lstStyle/>
          <a:p>
            <a:pPr algn="ctr"/>
            <a:r>
              <a:rPr lang="en-US" sz="1000" b="1" i="0" u="sng" strike="noStrike" baseline="0" dirty="0">
                <a:solidFill>
                  <a:srgbClr val="000000"/>
                </a:solidFill>
                <a:latin typeface="Arial" panose="020B0604020202020204" pitchFamily="34" charset="0"/>
              </a:rPr>
              <a:t>1.0 Workplace Safety and Health in the Workplace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1.1 Under Workplace Safety And Health Act 2006 and its subsidiary legislations. Occupier/Employers are responsible for ensuring the safety and health of their employees and also the public, if they are at risk from those work activities.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1.2 This procedure is in general applicable to all project sites. It covers in detail about the procedures involved in lifting operation.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1.3 Occupier /Employer shall employ Workplace Safety and health Personnel with the aim of reducing the number of industrial accidents by enforcing the Law, providing advice on good working practices, and developing guidance in response to technical changes in equipment and working methods. </a:t>
            </a:r>
          </a:p>
          <a:p>
            <a:pPr algn="ctr"/>
            <a:endParaRPr lang="en-SG" sz="1000" b="1" i="0" u="sng" strike="noStrike" baseline="0" dirty="0">
              <a:solidFill>
                <a:srgbClr val="000000"/>
              </a:solidFill>
              <a:latin typeface="Arial" panose="020B0604020202020204" pitchFamily="34" charset="0"/>
            </a:endParaRPr>
          </a:p>
          <a:p>
            <a:pPr algn="ctr"/>
            <a:r>
              <a:rPr lang="en-SG" sz="1000" b="1" i="0" u="sng" strike="noStrike" baseline="0" dirty="0">
                <a:solidFill>
                  <a:srgbClr val="000000"/>
                </a:solidFill>
                <a:latin typeface="Arial" panose="020B0604020202020204" pitchFamily="34" charset="0"/>
              </a:rPr>
              <a:t>2.0 Objectives </a:t>
            </a:r>
            <a:endParaRPr lang="en-SG" sz="1000" b="0" i="0" u="sng" strike="noStrike" baseline="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2.1 To eliminate or minimize the level of near accidents, injury and damage to property during the lifting operation at worksite. Establish and maintain procedures for carrying out work safely and protect the safety and health of persons in the event of emergency. </a:t>
            </a:r>
          </a:p>
          <a:p>
            <a:endParaRPr lang="en-SG" sz="1000" b="1" i="0" u="none" strike="noStrike" baseline="0" dirty="0">
              <a:solidFill>
                <a:srgbClr val="000000"/>
              </a:solidFill>
              <a:latin typeface="Arial" panose="020B0604020202020204" pitchFamily="34" charset="0"/>
            </a:endParaRPr>
          </a:p>
          <a:p>
            <a:pPr algn="ctr"/>
            <a:r>
              <a:rPr lang="en-SG" sz="1000" b="1" i="0" u="sng" strike="noStrike" baseline="0" dirty="0">
                <a:solidFill>
                  <a:srgbClr val="000000"/>
                </a:solidFill>
                <a:latin typeface="Arial" panose="020B0604020202020204" pitchFamily="34" charset="0"/>
              </a:rPr>
              <a:t>3.0 Scope </a:t>
            </a:r>
            <a:endParaRPr lang="en-SG" sz="1000" b="0" i="0" u="sng" strike="noStrike" baseline="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3.1 To be communicated to personnel carrying out the work and follow the prescribed work procedures accordingly to workplace / worksite safety requirement in an acceptable manner. </a:t>
            </a:r>
          </a:p>
          <a:p>
            <a:endParaRPr lang="en-US" sz="1000" b="1" i="0" u="none" strike="noStrike" baseline="0" dirty="0">
              <a:solidFill>
                <a:srgbClr val="000000"/>
              </a:solidFill>
              <a:latin typeface="Arial" panose="020B0604020202020204" pitchFamily="34" charset="0"/>
            </a:endParaRPr>
          </a:p>
          <a:p>
            <a:pPr algn="ctr"/>
            <a:r>
              <a:rPr lang="en-US" sz="1000" b="1" i="0" u="sng" strike="noStrike" baseline="0" dirty="0">
                <a:solidFill>
                  <a:srgbClr val="000000"/>
                </a:solidFill>
                <a:latin typeface="Arial" panose="020B0604020202020204" pitchFamily="34" charset="0"/>
              </a:rPr>
              <a:t>4.0 Responsibility </a:t>
            </a:r>
          </a:p>
          <a:p>
            <a:endParaRPr lang="en-US" sz="1000" b="1"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4.1 Project Coordinator – Assist the Project Manager in achieving the OSH Management System, enforcing the OSH policy in accident prevention and compliance to the WSH Act. Provide support to the Safety section in accident prevention.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4.2 Site Supervisor – Responsible for assisting the Project Manager / Project Coordinator in implementing and enforcing the OSH policy in accident prevention. Compliance with the WSH Act (If required and ensure activities are carried out in accordance to this procedure) </a:t>
            </a:r>
          </a:p>
          <a:p>
            <a:endParaRPr lang="en-SG"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4.3 Project Manager – Achieve the objectives of the OSH Management System, enforcing the OSH policy in accident prevention and compliance to the WSH Act. Provide support to the Safety section in accident prevention. </a:t>
            </a:r>
            <a:endParaRPr lang="en-SG" sz="1000" dirty="0"/>
          </a:p>
        </p:txBody>
      </p:sp>
      <p:graphicFrame>
        <p:nvGraphicFramePr>
          <p:cNvPr id="9" name="Table 8">
            <a:extLst>
              <a:ext uri="{FF2B5EF4-FFF2-40B4-BE49-F238E27FC236}">
                <a16:creationId xmlns:a16="http://schemas.microsoft.com/office/drawing/2014/main" id="{3CAE2C23-14A1-8421-58E8-EA3D7A475A0E}"/>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AE4E1D09-2550-3B52-36F9-96E574069D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4" name="Slide Number Placeholder 3">
            <a:extLst>
              <a:ext uri="{FF2B5EF4-FFF2-40B4-BE49-F238E27FC236}">
                <a16:creationId xmlns:a16="http://schemas.microsoft.com/office/drawing/2014/main" id="{FB389AF9-483D-527E-9D84-50132B194944}"/>
              </a:ext>
            </a:extLst>
          </p:cNvPr>
          <p:cNvSpPr>
            <a:spLocks noGrp="1"/>
          </p:cNvSpPr>
          <p:nvPr>
            <p:ph type="sldNum" sz="quarter" idx="12"/>
          </p:nvPr>
        </p:nvSpPr>
        <p:spPr/>
        <p:txBody>
          <a:bodyPr/>
          <a:lstStyle/>
          <a:p>
            <a:fld id="{F0052729-9336-4E5B-BC69-5177B8B6DD05}" type="slidenum">
              <a:rPr lang="en-SG" smtClean="0"/>
              <a:t>3</a:t>
            </a:fld>
            <a:endParaRPr lang="en-SG"/>
          </a:p>
        </p:txBody>
      </p:sp>
    </p:spTree>
    <p:extLst>
      <p:ext uri="{BB962C8B-B14F-4D97-AF65-F5344CB8AC3E}">
        <p14:creationId xmlns:p14="http://schemas.microsoft.com/office/powerpoint/2010/main" val="3504807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9521E-123A-9DAA-6D9D-D743E8F69BCE}"/>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C9BDD359-F920-C640-56EE-4792FF207A5E}"/>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1ED4E53B-A36A-04B9-5307-40EC8E1DD5B6}"/>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410EEDA8-6C50-4650-B0A7-90FEDE4E8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3" name="TextBox 2">
            <a:extLst>
              <a:ext uri="{FF2B5EF4-FFF2-40B4-BE49-F238E27FC236}">
                <a16:creationId xmlns:a16="http://schemas.microsoft.com/office/drawing/2014/main" id="{E81BE290-B413-A3F7-11DD-A7B7AC3D47C1}"/>
              </a:ext>
            </a:extLst>
          </p:cNvPr>
          <p:cNvSpPr txBox="1"/>
          <p:nvPr/>
        </p:nvSpPr>
        <p:spPr>
          <a:xfrm>
            <a:off x="198966" y="3193633"/>
            <a:ext cx="6366935" cy="6247864"/>
          </a:xfrm>
          <a:prstGeom prst="rect">
            <a:avLst/>
          </a:prstGeom>
          <a:noFill/>
        </p:spPr>
        <p:txBody>
          <a:bodyPr wrap="square">
            <a:spAutoFit/>
          </a:bodyPr>
          <a:lstStyle/>
          <a:p>
            <a:pPr algn="l"/>
            <a:endParaRPr lang="en-SG"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4.4 WSH Coordinator / Supervisor – Duties to ensure that the Regulations and Statutory requirements of WSH Act are complied. (Application of permit-to-work, conduct Tool box meeting and assist in the briefing and training of RA &amp; SWP to workers).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4.5 Only trained workers are allowed to do the concreting work in the factory premise, worksite and other workplace which is deemed to be a factory. </a:t>
            </a:r>
          </a:p>
          <a:p>
            <a:pPr algn="ctr"/>
            <a:endParaRPr lang="en-SG" sz="1000" b="0" i="0" u="sng" strike="noStrike" baseline="0" dirty="0">
              <a:solidFill>
                <a:srgbClr val="000000"/>
              </a:solidFill>
              <a:latin typeface="Arial" panose="020B0604020202020204" pitchFamily="34" charset="0"/>
            </a:endParaRPr>
          </a:p>
          <a:p>
            <a:pPr algn="ctr"/>
            <a:r>
              <a:rPr lang="en-SG" sz="1000" b="1" i="0" u="sng" strike="noStrike" baseline="0" dirty="0">
                <a:solidFill>
                  <a:srgbClr val="000000"/>
                </a:solidFill>
                <a:latin typeface="Arial" panose="020B0604020202020204" pitchFamily="34" charset="0"/>
              </a:rPr>
              <a:t>5.0 Site Survey </a:t>
            </a:r>
            <a:endParaRPr lang="en-SG" sz="1000" b="0" i="0" u="sng" strike="noStrike" baseline="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5.1 To carry out a survey and to establish what the load to be lifted is, what all the characteristics are, weight, size, type of lifting lugs etc., what the ground conditions are, where it has to be lifted from and to, what the access route is like, etc. The survey must be completed by a competent person(s). </a:t>
            </a:r>
          </a:p>
          <a:p>
            <a:pPr algn="ctr"/>
            <a:endParaRPr lang="en-SG" sz="1000" b="1" i="0" u="sng" strike="noStrike" baseline="0" dirty="0">
              <a:solidFill>
                <a:srgbClr val="000000"/>
              </a:solidFill>
              <a:latin typeface="Arial" panose="020B0604020202020204" pitchFamily="34" charset="0"/>
            </a:endParaRPr>
          </a:p>
          <a:p>
            <a:pPr algn="ctr"/>
            <a:r>
              <a:rPr lang="en-SG" sz="1000" b="1" i="0" u="sng" strike="noStrike" baseline="0" dirty="0">
                <a:solidFill>
                  <a:srgbClr val="000000"/>
                </a:solidFill>
                <a:latin typeface="Arial" panose="020B0604020202020204" pitchFamily="34" charset="0"/>
              </a:rPr>
              <a:t>6.0 Risk Assessment </a:t>
            </a:r>
            <a:endParaRPr lang="en-SG" sz="1000" b="0" i="0" u="sng" strike="noStrike" baseline="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6.1 The site survey is an ideal time to begin a risk assessment of the proposed lifting operations that will be carried out. The aim of the risk assessment is to prevent incidents and/or accidents that arise from hazards* during the lifting operations. With the identified hazards, the risks posed by these hazards can be reduced to as low as reasonably practical through the implementation of control measures, using the principle of the hierarchy of controls.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6.2 Other potential hazards that may present a risk to the lifting operation from other activities in the vicinity should also be considered. This can be easily done during the site survey.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6.3 Examples of other hazards and associated risks include, narrow access, excavations, pipe-racks, overhead structures, other plant operating in the vicinity of the lifting area etc.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6.4 It is essential that the information within the risk assessment is translated into implementation on-site. </a:t>
            </a:r>
          </a:p>
          <a:p>
            <a:r>
              <a:rPr lang="en-US" sz="1000" b="0" i="0" u="none" strike="noStrike" baseline="0" dirty="0">
                <a:solidFill>
                  <a:srgbClr val="000000"/>
                </a:solidFill>
                <a:latin typeface="Arial" panose="020B0604020202020204" pitchFamily="34" charset="0"/>
              </a:rPr>
              <a:t>Checks should be done to ensure that control measures are in place and in good working condition.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6.5 As site conditions may change, the following table may be used to check that control measures Indicated in the risk assessments are put in place and that they remain applicable to the actual </a:t>
            </a:r>
          </a:p>
          <a:p>
            <a:endParaRPr lang="en-US" sz="1000" b="1" i="0" u="none" strike="noStrike" baseline="0" dirty="0">
              <a:solidFill>
                <a:srgbClr val="000000"/>
              </a:solidFill>
              <a:latin typeface="Arial" panose="020B0604020202020204" pitchFamily="34" charset="0"/>
            </a:endParaRPr>
          </a:p>
          <a:p>
            <a:pPr algn="ctr"/>
            <a:r>
              <a:rPr lang="en-US" sz="1000" b="1" i="0" u="sng" strike="noStrike" baseline="0" dirty="0">
                <a:solidFill>
                  <a:srgbClr val="000000"/>
                </a:solidFill>
                <a:latin typeface="Arial" panose="020B0604020202020204" pitchFamily="34" charset="0"/>
              </a:rPr>
              <a:t>7.0 Classifications of Lifts Types </a:t>
            </a:r>
            <a:endParaRPr lang="en-US" sz="1000" b="0" i="0" u="sng" strike="noStrike" baseline="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7.1 There are generally two types of lift, Routine and Non-Routine. </a:t>
            </a:r>
            <a:r>
              <a:rPr lang="en-US" sz="1000" b="0" i="0" u="none" strike="noStrike" baseline="0" dirty="0" err="1">
                <a:solidFill>
                  <a:srgbClr val="000000"/>
                </a:solidFill>
                <a:latin typeface="Arial" panose="020B0604020202020204" pitchFamily="34" charset="0"/>
              </a:rPr>
              <a:t>Categorising</a:t>
            </a:r>
            <a:r>
              <a:rPr lang="en-US" sz="1000" b="0" i="0" u="none" strike="noStrike" baseline="0" dirty="0">
                <a:solidFill>
                  <a:srgbClr val="000000"/>
                </a:solidFill>
                <a:latin typeface="Arial" panose="020B0604020202020204" pitchFamily="34" charset="0"/>
              </a:rPr>
              <a:t> the type of lifts before planning the lift and documenting in a lifting plan is critical because it allows for the proper assessment of the amount of risk present in the lifting operation and the level of control required in mitigating the risks involved. </a:t>
            </a:r>
            <a:endParaRPr lang="en-SG" sz="1000" dirty="0"/>
          </a:p>
        </p:txBody>
      </p:sp>
      <p:graphicFrame>
        <p:nvGraphicFramePr>
          <p:cNvPr id="9" name="Table 8">
            <a:extLst>
              <a:ext uri="{FF2B5EF4-FFF2-40B4-BE49-F238E27FC236}">
                <a16:creationId xmlns:a16="http://schemas.microsoft.com/office/drawing/2014/main" id="{BCB536D8-0D90-4729-DBFE-B9D2A9A533FA}"/>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F3469357-7B38-543D-ADE1-5BA3C78AAC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4" name="Slide Number Placeholder 3">
            <a:extLst>
              <a:ext uri="{FF2B5EF4-FFF2-40B4-BE49-F238E27FC236}">
                <a16:creationId xmlns:a16="http://schemas.microsoft.com/office/drawing/2014/main" id="{BF366303-1E4D-CF28-9504-EA4FDC78B84F}"/>
              </a:ext>
            </a:extLst>
          </p:cNvPr>
          <p:cNvSpPr>
            <a:spLocks noGrp="1"/>
          </p:cNvSpPr>
          <p:nvPr>
            <p:ph type="sldNum" sz="quarter" idx="12"/>
          </p:nvPr>
        </p:nvSpPr>
        <p:spPr/>
        <p:txBody>
          <a:bodyPr/>
          <a:lstStyle/>
          <a:p>
            <a:fld id="{F0052729-9336-4E5B-BC69-5177B8B6DD05}" type="slidenum">
              <a:rPr lang="en-SG" smtClean="0"/>
              <a:t>4</a:t>
            </a:fld>
            <a:endParaRPr lang="en-SG"/>
          </a:p>
        </p:txBody>
      </p:sp>
    </p:spTree>
    <p:extLst>
      <p:ext uri="{BB962C8B-B14F-4D97-AF65-F5344CB8AC3E}">
        <p14:creationId xmlns:p14="http://schemas.microsoft.com/office/powerpoint/2010/main" val="3258474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FAE85-4E79-A6A6-771A-3AA9671A917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1C2C946-036F-E233-4220-753022DBC6DE}"/>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0A0A0D19-6456-F438-5DA3-EC3B4BC639CD}"/>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9C639846-36BC-D756-FE91-549D07420F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4" name="TextBox 3">
            <a:extLst>
              <a:ext uri="{FF2B5EF4-FFF2-40B4-BE49-F238E27FC236}">
                <a16:creationId xmlns:a16="http://schemas.microsoft.com/office/drawing/2014/main" id="{7D2042A9-4AC7-4D12-2DD4-FA31259FFB51}"/>
              </a:ext>
            </a:extLst>
          </p:cNvPr>
          <p:cNvSpPr txBox="1"/>
          <p:nvPr/>
        </p:nvSpPr>
        <p:spPr>
          <a:xfrm>
            <a:off x="160866" y="3401816"/>
            <a:ext cx="6536265" cy="6247864"/>
          </a:xfrm>
          <a:prstGeom prst="rect">
            <a:avLst/>
          </a:prstGeom>
          <a:noFill/>
        </p:spPr>
        <p:txBody>
          <a:bodyPr wrap="square">
            <a:spAutoFit/>
          </a:bodyPr>
          <a:lstStyle/>
          <a:p>
            <a:pPr algn="ctr"/>
            <a:r>
              <a:rPr lang="en-SG" sz="1000" b="1" i="0" u="sng" strike="noStrike" baseline="0" dirty="0">
                <a:solidFill>
                  <a:srgbClr val="000000"/>
                </a:solidFill>
                <a:latin typeface="Arial" panose="020B0604020202020204" pitchFamily="34" charset="0"/>
              </a:rPr>
              <a:t>8.0 Routine Lifts </a:t>
            </a:r>
            <a:endParaRPr lang="en-SG" sz="1000" b="0" i="0" u="sng" strike="noStrike" baseline="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8.1 Routine lifting operations may be executed under a basic lift plan. These plans must clearly define the limitations on the loads, lifting methods and areas of operation. A Risk Assessment will be required in each case, and authorized prior to commencement. A Non-Routine may also be completed using similar documents but will require greater detail. Prior to any lifting operation commencing, a review of the lift plan must be conducted. </a:t>
            </a: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endParaRPr lang="en-US" sz="1000" b="1" dirty="0">
              <a:solidFill>
                <a:srgbClr val="000000"/>
              </a:solidFill>
              <a:latin typeface="Arial" panose="020B0604020202020204" pitchFamily="34" charset="0"/>
            </a:endParaRPr>
          </a:p>
          <a:p>
            <a:endParaRPr lang="en-US" sz="1000" b="1" i="0" u="none" strike="noStrike" baseline="0" dirty="0">
              <a:solidFill>
                <a:srgbClr val="000000"/>
              </a:solidFill>
              <a:latin typeface="Arial" panose="020B0604020202020204" pitchFamily="34" charset="0"/>
            </a:endParaRPr>
          </a:p>
          <a:p>
            <a:pPr marL="171450" indent="-171450">
              <a:buFont typeface="Arial" panose="020B0604020202020204" pitchFamily="34" charset="0"/>
              <a:buChar char="•"/>
            </a:pPr>
            <a:r>
              <a:rPr lang="en-US" sz="1000" b="1" i="0" u="none" strike="noStrike" baseline="0" dirty="0">
                <a:solidFill>
                  <a:srgbClr val="000000"/>
                </a:solidFill>
                <a:latin typeface="Arial" panose="020B0604020202020204" pitchFamily="34" charset="0"/>
              </a:rPr>
              <a:t>A Routine Lift is a lift which conforms to the following factors </a:t>
            </a:r>
            <a:endParaRPr lang="en-US" sz="1000" b="0" i="0" u="none" strike="noStrike" baseline="0" dirty="0">
              <a:solidFill>
                <a:srgbClr val="000000"/>
              </a:solidFill>
              <a:latin typeface="Arial" panose="020B0604020202020204" pitchFamily="34" charset="0"/>
            </a:endParaRP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Within the normal operating parameters of the crane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Lifting over non-sensitive areas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Suitable environmental conditions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Load has known and evaluated weight, shape and </a:t>
            </a:r>
            <a:r>
              <a:rPr lang="en-US" sz="1000" b="0" i="0" u="none" strike="noStrike" baseline="0" dirty="0" err="1">
                <a:solidFill>
                  <a:srgbClr val="000000"/>
                </a:solidFill>
                <a:latin typeface="Arial" panose="020B0604020202020204" pitchFamily="34" charset="0"/>
              </a:rPr>
              <a:t>centre</a:t>
            </a:r>
            <a:r>
              <a:rPr lang="en-US" sz="1000" b="0" i="0" u="none" strike="noStrike" baseline="0" dirty="0">
                <a:solidFill>
                  <a:srgbClr val="000000"/>
                </a:solidFill>
                <a:latin typeface="Arial" panose="020B0604020202020204" pitchFamily="34" charset="0"/>
              </a:rPr>
              <a:t> of gravity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Standard/Engineer Calculated rigging arrangements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Routine repetitive lifting operations using the same equipment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Load has pre-determined weight, shape and </a:t>
            </a:r>
            <a:r>
              <a:rPr lang="en-US" sz="1000" b="0" i="0" u="none" strike="noStrike" baseline="0" dirty="0" err="1">
                <a:solidFill>
                  <a:srgbClr val="000000"/>
                </a:solidFill>
                <a:latin typeface="Arial" panose="020B0604020202020204" pitchFamily="34" charset="0"/>
              </a:rPr>
              <a:t>centre</a:t>
            </a:r>
            <a:r>
              <a:rPr lang="en-US" sz="1000" b="0" i="0" u="none" strike="noStrike" baseline="0" dirty="0">
                <a:solidFill>
                  <a:srgbClr val="000000"/>
                </a:solidFill>
                <a:latin typeface="Arial" panose="020B0604020202020204" pitchFamily="34" charset="0"/>
              </a:rPr>
              <a:t> of gravity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Single function or series of functions repeated manually or automatically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Order of function repeated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Load under 75% of rated load of the load chart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Load has known and evaluated weight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Centre of gravity below the lifting hook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Use of a certified lifting point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Ample headroom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Single lifting machine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Unlikely to be affected by changing environmental conditions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Standard rigging arrangements </a:t>
            </a:r>
          </a:p>
          <a:p>
            <a:endParaRPr lang="en-US" sz="1000" b="0" i="0" u="none" strike="noStrike" baseline="0" dirty="0">
              <a:solidFill>
                <a:srgbClr val="000000"/>
              </a:solidFill>
              <a:latin typeface="Arial" panose="020B0604020202020204" pitchFamily="34" charset="0"/>
            </a:endParaRPr>
          </a:p>
        </p:txBody>
      </p:sp>
      <p:pic>
        <p:nvPicPr>
          <p:cNvPr id="11" name="Picture 10" descr="Diagram of a crane hook and rope&#10;&#10;AI-generated content may be incorrect.">
            <a:extLst>
              <a:ext uri="{FF2B5EF4-FFF2-40B4-BE49-F238E27FC236}">
                <a16:creationId xmlns:a16="http://schemas.microsoft.com/office/drawing/2014/main" id="{201DA140-6D47-1173-F907-C8F45632FF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1556" y="4521200"/>
            <a:ext cx="1338743" cy="1486681"/>
          </a:xfrm>
          <a:prstGeom prst="rect">
            <a:avLst/>
          </a:prstGeom>
        </p:spPr>
      </p:pic>
      <p:pic>
        <p:nvPicPr>
          <p:cNvPr id="13" name="Picture 12" descr="A drawing of a crane lifting a bundle of pipes&#10;&#10;AI-generated content may be incorrect.">
            <a:extLst>
              <a:ext uri="{FF2B5EF4-FFF2-40B4-BE49-F238E27FC236}">
                <a16:creationId xmlns:a16="http://schemas.microsoft.com/office/drawing/2014/main" id="{3041E9A3-7ABF-7C87-B63F-AB002E51D5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0590" y="4521200"/>
            <a:ext cx="968634" cy="1402291"/>
          </a:xfrm>
          <a:prstGeom prst="rect">
            <a:avLst/>
          </a:prstGeom>
        </p:spPr>
      </p:pic>
      <p:sp>
        <p:nvSpPr>
          <p:cNvPr id="15" name="TextBox 14">
            <a:extLst>
              <a:ext uri="{FF2B5EF4-FFF2-40B4-BE49-F238E27FC236}">
                <a16:creationId xmlns:a16="http://schemas.microsoft.com/office/drawing/2014/main" id="{8F748D11-B909-7457-B318-E012C0489FFF}"/>
              </a:ext>
            </a:extLst>
          </p:cNvPr>
          <p:cNvSpPr txBox="1"/>
          <p:nvPr/>
        </p:nvSpPr>
        <p:spPr>
          <a:xfrm>
            <a:off x="288865" y="6213246"/>
            <a:ext cx="2884123" cy="246221"/>
          </a:xfrm>
          <a:prstGeom prst="rect">
            <a:avLst/>
          </a:prstGeom>
          <a:noFill/>
        </p:spPr>
        <p:txBody>
          <a:bodyPr wrap="none" rtlCol="0">
            <a:spAutoFit/>
          </a:bodyPr>
          <a:lstStyle/>
          <a:p>
            <a:r>
              <a:rPr lang="en-SG" sz="1000" u="sng" dirty="0"/>
              <a:t>Example of Routine Lift: Equipment with Eyebolts</a:t>
            </a:r>
          </a:p>
        </p:txBody>
      </p:sp>
      <p:sp>
        <p:nvSpPr>
          <p:cNvPr id="16" name="TextBox 15">
            <a:extLst>
              <a:ext uri="{FF2B5EF4-FFF2-40B4-BE49-F238E27FC236}">
                <a16:creationId xmlns:a16="http://schemas.microsoft.com/office/drawing/2014/main" id="{D5D91CBC-7F0F-56B5-EF24-BB67BA02B6AD}"/>
              </a:ext>
            </a:extLst>
          </p:cNvPr>
          <p:cNvSpPr txBox="1"/>
          <p:nvPr/>
        </p:nvSpPr>
        <p:spPr>
          <a:xfrm>
            <a:off x="3459631" y="6213246"/>
            <a:ext cx="2866490" cy="400110"/>
          </a:xfrm>
          <a:prstGeom prst="rect">
            <a:avLst/>
          </a:prstGeom>
          <a:noFill/>
        </p:spPr>
        <p:txBody>
          <a:bodyPr wrap="none" rtlCol="0">
            <a:spAutoFit/>
          </a:bodyPr>
          <a:lstStyle/>
          <a:p>
            <a:r>
              <a:rPr lang="en-SG" sz="1000" u="sng" dirty="0"/>
              <a:t>Example of Routine Lift: Equipment which allows</a:t>
            </a:r>
          </a:p>
          <a:p>
            <a:r>
              <a:rPr lang="en-SG" sz="1000" dirty="0"/>
              <a:t>		                </a:t>
            </a:r>
            <a:r>
              <a:rPr lang="en-SG" sz="1000" u="sng" dirty="0"/>
              <a:t>Slings wrap over</a:t>
            </a:r>
          </a:p>
        </p:txBody>
      </p:sp>
      <p:graphicFrame>
        <p:nvGraphicFramePr>
          <p:cNvPr id="19" name="Table 18">
            <a:extLst>
              <a:ext uri="{FF2B5EF4-FFF2-40B4-BE49-F238E27FC236}">
                <a16:creationId xmlns:a16="http://schemas.microsoft.com/office/drawing/2014/main" id="{21F39991-10AF-482A-C455-CB667730463E}"/>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20" name="Picture 19" descr="A close-up of a stamp&#10;&#10;AI-generated content may be incorrect.">
            <a:extLst>
              <a:ext uri="{FF2B5EF4-FFF2-40B4-BE49-F238E27FC236}">
                <a16:creationId xmlns:a16="http://schemas.microsoft.com/office/drawing/2014/main" id="{D174A93A-12E8-1046-33DF-6118973B8B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6DE1B3A0-FAFA-8585-F4A4-11F82513EC17}"/>
              </a:ext>
            </a:extLst>
          </p:cNvPr>
          <p:cNvSpPr>
            <a:spLocks noGrp="1"/>
          </p:cNvSpPr>
          <p:nvPr>
            <p:ph type="sldNum" sz="quarter" idx="12"/>
          </p:nvPr>
        </p:nvSpPr>
        <p:spPr/>
        <p:txBody>
          <a:bodyPr/>
          <a:lstStyle/>
          <a:p>
            <a:fld id="{F0052729-9336-4E5B-BC69-5177B8B6DD05}" type="slidenum">
              <a:rPr lang="en-SG" smtClean="0"/>
              <a:t>5</a:t>
            </a:fld>
            <a:endParaRPr lang="en-SG"/>
          </a:p>
        </p:txBody>
      </p:sp>
    </p:spTree>
    <p:extLst>
      <p:ext uri="{BB962C8B-B14F-4D97-AF65-F5344CB8AC3E}">
        <p14:creationId xmlns:p14="http://schemas.microsoft.com/office/powerpoint/2010/main" val="2481476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3A453-37D2-35D1-9611-CA4E5DFAFB33}"/>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1630625-BE26-44BB-8949-53137FE81B2A}"/>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06A9D5A1-FE0A-CBBA-C443-9566D1D7DF1A}"/>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28A8A23C-09D2-A5CC-CAD3-E764315B5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7" name="TextBox 6">
            <a:extLst>
              <a:ext uri="{FF2B5EF4-FFF2-40B4-BE49-F238E27FC236}">
                <a16:creationId xmlns:a16="http://schemas.microsoft.com/office/drawing/2014/main" id="{31E02642-1AB7-4470-050B-0911D847B4A6}"/>
              </a:ext>
            </a:extLst>
          </p:cNvPr>
          <p:cNvSpPr txBox="1"/>
          <p:nvPr/>
        </p:nvSpPr>
        <p:spPr>
          <a:xfrm>
            <a:off x="107949" y="3339459"/>
            <a:ext cx="6642100" cy="1015663"/>
          </a:xfrm>
          <a:prstGeom prst="rect">
            <a:avLst/>
          </a:prstGeom>
          <a:noFill/>
        </p:spPr>
        <p:txBody>
          <a:bodyPr wrap="square">
            <a:spAutoFit/>
          </a:bodyPr>
          <a:lstStyle/>
          <a:p>
            <a:pPr algn="ctr"/>
            <a:r>
              <a:rPr lang="en-SG" sz="1000" b="1" i="0" u="sng" strike="noStrike" baseline="0" dirty="0">
                <a:solidFill>
                  <a:srgbClr val="000000"/>
                </a:solidFill>
                <a:latin typeface="Arial" panose="020B0604020202020204" pitchFamily="34" charset="0"/>
              </a:rPr>
              <a:t>9.0 Non-Routine Lifts </a:t>
            </a:r>
          </a:p>
          <a:p>
            <a:endParaRPr lang="en-SG"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9.1 Non- Routine lifting operations will require a more detailed Lifting Plan containing all of the elements as described within these guidelines. The plan will have to be approved by a Responsible Person prior to commencement of any Lifting Operation and any deviation requirement identified from the plan, must also get the approval of the Responsible Person prior to commencement of the lifting operation </a:t>
            </a:r>
            <a:endParaRPr lang="en-SG" sz="1000" dirty="0"/>
          </a:p>
        </p:txBody>
      </p:sp>
      <p:pic>
        <p:nvPicPr>
          <p:cNvPr id="13" name="Picture 12" descr="A large crane in a construction site&#10;&#10;AI-generated content may be incorrect.">
            <a:extLst>
              <a:ext uri="{FF2B5EF4-FFF2-40B4-BE49-F238E27FC236}">
                <a16:creationId xmlns:a16="http://schemas.microsoft.com/office/drawing/2014/main" id="{44D5F05D-75BD-3AC5-5745-D029082E9A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3583" y="4407840"/>
            <a:ext cx="2306390" cy="1529236"/>
          </a:xfrm>
          <a:prstGeom prst="rect">
            <a:avLst/>
          </a:prstGeom>
        </p:spPr>
      </p:pic>
      <p:pic>
        <p:nvPicPr>
          <p:cNvPr id="16" name="Picture 15" descr="A large crane lifting a large yellow bridge&#10;&#10;AI-generated content may be incorrect.">
            <a:extLst>
              <a:ext uri="{FF2B5EF4-FFF2-40B4-BE49-F238E27FC236}">
                <a16:creationId xmlns:a16="http://schemas.microsoft.com/office/drawing/2014/main" id="{4308BAC9-FD28-BDC7-7767-E943E619D1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400" y="4404547"/>
            <a:ext cx="2229133" cy="1532529"/>
          </a:xfrm>
          <a:prstGeom prst="rect">
            <a:avLst/>
          </a:prstGeom>
        </p:spPr>
      </p:pic>
      <p:sp>
        <p:nvSpPr>
          <p:cNvPr id="17" name="TextBox 16">
            <a:extLst>
              <a:ext uri="{FF2B5EF4-FFF2-40B4-BE49-F238E27FC236}">
                <a16:creationId xmlns:a16="http://schemas.microsoft.com/office/drawing/2014/main" id="{536CD5DD-A2EB-E7B2-B5CF-44AD875B69F2}"/>
              </a:ext>
            </a:extLst>
          </p:cNvPr>
          <p:cNvSpPr txBox="1"/>
          <p:nvPr/>
        </p:nvSpPr>
        <p:spPr>
          <a:xfrm>
            <a:off x="389183" y="6194186"/>
            <a:ext cx="2563566" cy="230832"/>
          </a:xfrm>
          <a:prstGeom prst="rect">
            <a:avLst/>
          </a:prstGeom>
          <a:noFill/>
        </p:spPr>
        <p:txBody>
          <a:bodyPr wrap="square" rtlCol="0">
            <a:spAutoFit/>
          </a:bodyPr>
          <a:lstStyle/>
          <a:p>
            <a:r>
              <a:rPr lang="en-SG" sz="900" u="sng" dirty="0"/>
              <a:t>Example of Non-Routine Lifting : Tandem Lifting</a:t>
            </a:r>
          </a:p>
        </p:txBody>
      </p:sp>
      <p:sp>
        <p:nvSpPr>
          <p:cNvPr id="18" name="TextBox 17">
            <a:extLst>
              <a:ext uri="{FF2B5EF4-FFF2-40B4-BE49-F238E27FC236}">
                <a16:creationId xmlns:a16="http://schemas.microsoft.com/office/drawing/2014/main" id="{9CB3FBD5-0B86-006D-7595-6CD4FE67BBED}"/>
              </a:ext>
            </a:extLst>
          </p:cNvPr>
          <p:cNvSpPr txBox="1"/>
          <p:nvPr/>
        </p:nvSpPr>
        <p:spPr>
          <a:xfrm>
            <a:off x="3219451" y="6194186"/>
            <a:ext cx="3249366" cy="230832"/>
          </a:xfrm>
          <a:prstGeom prst="rect">
            <a:avLst/>
          </a:prstGeom>
          <a:noFill/>
        </p:spPr>
        <p:txBody>
          <a:bodyPr wrap="square" rtlCol="0">
            <a:spAutoFit/>
          </a:bodyPr>
          <a:lstStyle/>
          <a:p>
            <a:r>
              <a:rPr lang="en-SG" sz="900" u="sng" dirty="0"/>
              <a:t>Example of Non-Routine Lifting : Tilting of Tower/Equipment</a:t>
            </a:r>
          </a:p>
        </p:txBody>
      </p:sp>
      <p:sp>
        <p:nvSpPr>
          <p:cNvPr id="19" name="TextBox 18">
            <a:extLst>
              <a:ext uri="{FF2B5EF4-FFF2-40B4-BE49-F238E27FC236}">
                <a16:creationId xmlns:a16="http://schemas.microsoft.com/office/drawing/2014/main" id="{AC5A4566-32DA-EF2A-E637-0AE25DF8EB67}"/>
              </a:ext>
            </a:extLst>
          </p:cNvPr>
          <p:cNvSpPr txBox="1"/>
          <p:nvPr/>
        </p:nvSpPr>
        <p:spPr>
          <a:xfrm>
            <a:off x="107948" y="6718300"/>
            <a:ext cx="6750049" cy="2077492"/>
          </a:xfrm>
          <a:prstGeom prst="rect">
            <a:avLst/>
          </a:prstGeom>
          <a:noFill/>
        </p:spPr>
        <p:txBody>
          <a:bodyPr wrap="square" rtlCol="0">
            <a:spAutoFit/>
          </a:bodyPr>
          <a:lstStyle/>
          <a:p>
            <a:pPr algn="ctr"/>
            <a:r>
              <a:rPr lang="en-US" sz="1000" b="1" i="0" u="sng" strike="noStrike" baseline="0" dirty="0">
                <a:solidFill>
                  <a:srgbClr val="000000"/>
                </a:solidFill>
                <a:latin typeface="Arial" panose="020B0604020202020204" pitchFamily="34" charset="0"/>
              </a:rPr>
              <a:t>10.0 A Non-Routine Lift is a lift which conforms to the following factors: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 Use of two or more Lifting Appliances, including tallying pipe using winch and crane (tandem lift) </a:t>
            </a:r>
          </a:p>
          <a:p>
            <a:r>
              <a:rPr lang="en-US" sz="1000" b="0" i="0" u="none" strike="noStrike" baseline="0" dirty="0">
                <a:solidFill>
                  <a:srgbClr val="000000"/>
                </a:solidFill>
                <a:latin typeface="Arial" panose="020B0604020202020204" pitchFamily="34" charset="0"/>
              </a:rPr>
              <a:t>• With sensitive, difficult or restricted areas </a:t>
            </a:r>
          </a:p>
          <a:p>
            <a:r>
              <a:rPr lang="en-US" sz="1000" b="0" i="0" u="none" strike="noStrike" baseline="0" dirty="0">
                <a:solidFill>
                  <a:srgbClr val="000000"/>
                </a:solidFill>
                <a:latin typeface="Arial" panose="020B0604020202020204" pitchFamily="34" charset="0"/>
              </a:rPr>
              <a:t>• Lifts from one offshore vessel to another </a:t>
            </a:r>
          </a:p>
          <a:p>
            <a:r>
              <a:rPr lang="en-US" sz="1000" b="0" i="0" u="none" strike="noStrike" baseline="0" dirty="0">
                <a:solidFill>
                  <a:srgbClr val="000000"/>
                </a:solidFill>
                <a:latin typeface="Arial" panose="020B0604020202020204" pitchFamily="34" charset="0"/>
              </a:rPr>
              <a:t>• Continuation of a lifting operation with different people </a:t>
            </a:r>
          </a:p>
          <a:p>
            <a:r>
              <a:rPr lang="en-US" sz="1000" b="0" i="0" u="none" strike="noStrike" baseline="0" dirty="0">
                <a:solidFill>
                  <a:srgbClr val="000000"/>
                </a:solidFill>
                <a:latin typeface="Arial" panose="020B0604020202020204" pitchFamily="34" charset="0"/>
              </a:rPr>
              <a:t>• Lifting of machinery without lifting points </a:t>
            </a:r>
          </a:p>
          <a:p>
            <a:r>
              <a:rPr lang="en-US" sz="1000" b="0" i="0" u="none" strike="noStrike" baseline="0" dirty="0">
                <a:solidFill>
                  <a:srgbClr val="000000"/>
                </a:solidFill>
                <a:latin typeface="Arial" panose="020B0604020202020204" pitchFamily="34" charset="0"/>
              </a:rPr>
              <a:t>• In environmental conditions likely to affect equipment performance </a:t>
            </a:r>
          </a:p>
          <a:p>
            <a:r>
              <a:rPr lang="en-US" sz="1000" b="0" i="0" u="none" strike="noStrike" baseline="0" dirty="0">
                <a:solidFill>
                  <a:srgbClr val="000000"/>
                </a:solidFill>
                <a:latin typeface="Arial" panose="020B0604020202020204" pitchFamily="34" charset="0"/>
              </a:rPr>
              <a:t>• Load with unknown / difficult to estimate weight and/or </a:t>
            </a:r>
            <a:r>
              <a:rPr lang="en-US" sz="1000" b="0" i="0" u="none" strike="noStrike" baseline="0" dirty="0" err="1">
                <a:solidFill>
                  <a:srgbClr val="000000"/>
                </a:solidFill>
                <a:latin typeface="Arial" panose="020B0604020202020204" pitchFamily="34" charset="0"/>
              </a:rPr>
              <a:t>centre</a:t>
            </a:r>
            <a:r>
              <a:rPr lang="en-US" sz="1000" b="0" i="0" u="none" strike="noStrike" baseline="0" dirty="0">
                <a:solidFill>
                  <a:srgbClr val="000000"/>
                </a:solidFill>
                <a:latin typeface="Arial" panose="020B0604020202020204" pitchFamily="34" charset="0"/>
              </a:rPr>
              <a:t> of gravity </a:t>
            </a:r>
          </a:p>
          <a:p>
            <a:r>
              <a:rPr lang="en-SG" sz="1000" b="0" i="0" u="none" strike="noStrike" baseline="0" dirty="0">
                <a:solidFill>
                  <a:srgbClr val="000000"/>
                </a:solidFill>
                <a:latin typeface="Arial" panose="020B0604020202020204" pitchFamily="34" charset="0"/>
              </a:rPr>
              <a:t>• Non-standard rigging arrangements </a:t>
            </a:r>
          </a:p>
          <a:p>
            <a:r>
              <a:rPr lang="en-US" sz="1000" b="0" i="0" u="none" strike="noStrike" baseline="0" dirty="0">
                <a:solidFill>
                  <a:srgbClr val="000000"/>
                </a:solidFill>
                <a:latin typeface="Arial" panose="020B0604020202020204" pitchFamily="34" charset="0"/>
              </a:rPr>
              <a:t>• Load lowered into or lifted from a confined space </a:t>
            </a:r>
          </a:p>
          <a:p>
            <a:r>
              <a:rPr lang="en-US" sz="1000" b="0" i="0" u="none" strike="noStrike" baseline="0" dirty="0">
                <a:solidFill>
                  <a:srgbClr val="000000"/>
                </a:solidFill>
                <a:latin typeface="Arial" panose="020B0604020202020204" pitchFamily="34" charset="0"/>
              </a:rPr>
              <a:t>• Weight of load in excess of 75% rated load of the load chart </a:t>
            </a:r>
          </a:p>
          <a:p>
            <a:endParaRPr lang="en-SG" sz="900" dirty="0"/>
          </a:p>
        </p:txBody>
      </p:sp>
      <p:graphicFrame>
        <p:nvGraphicFramePr>
          <p:cNvPr id="22" name="Table 21">
            <a:extLst>
              <a:ext uri="{FF2B5EF4-FFF2-40B4-BE49-F238E27FC236}">
                <a16:creationId xmlns:a16="http://schemas.microsoft.com/office/drawing/2014/main" id="{771725AC-085F-6574-DE72-CA8DAB953AD5}"/>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23" name="Picture 22" descr="A close-up of a stamp&#10;&#10;AI-generated content may be incorrect.">
            <a:extLst>
              <a:ext uri="{FF2B5EF4-FFF2-40B4-BE49-F238E27FC236}">
                <a16:creationId xmlns:a16="http://schemas.microsoft.com/office/drawing/2014/main" id="{7596CFD9-4B56-0FED-0F18-CBA74AE365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3B536CB3-D4B7-31AD-8107-81BCD732F584}"/>
              </a:ext>
            </a:extLst>
          </p:cNvPr>
          <p:cNvSpPr>
            <a:spLocks noGrp="1"/>
          </p:cNvSpPr>
          <p:nvPr>
            <p:ph type="sldNum" sz="quarter" idx="12"/>
          </p:nvPr>
        </p:nvSpPr>
        <p:spPr/>
        <p:txBody>
          <a:bodyPr/>
          <a:lstStyle/>
          <a:p>
            <a:fld id="{F0052729-9336-4E5B-BC69-5177B8B6DD05}" type="slidenum">
              <a:rPr lang="en-SG" smtClean="0"/>
              <a:t>6</a:t>
            </a:fld>
            <a:endParaRPr lang="en-SG"/>
          </a:p>
        </p:txBody>
      </p:sp>
    </p:spTree>
    <p:extLst>
      <p:ext uri="{BB962C8B-B14F-4D97-AF65-F5344CB8AC3E}">
        <p14:creationId xmlns:p14="http://schemas.microsoft.com/office/powerpoint/2010/main" val="455659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B65F6-AACF-51E3-E8C2-A3695F73AD2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F8817CCA-B117-EE1D-A6A2-8CD2DB21340D}"/>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67106968-C38C-7344-24F3-8CF160D2686B}"/>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77E44A9D-BE3A-F15B-5CE2-354D57A01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4" name="TextBox 3">
            <a:extLst>
              <a:ext uri="{FF2B5EF4-FFF2-40B4-BE49-F238E27FC236}">
                <a16:creationId xmlns:a16="http://schemas.microsoft.com/office/drawing/2014/main" id="{6C6A9EDB-D0A6-CECB-03D7-6F97EDE5B2E0}"/>
              </a:ext>
            </a:extLst>
          </p:cNvPr>
          <p:cNvSpPr txBox="1"/>
          <p:nvPr/>
        </p:nvSpPr>
        <p:spPr>
          <a:xfrm>
            <a:off x="389756" y="3241607"/>
            <a:ext cx="6129868" cy="307777"/>
          </a:xfrm>
          <a:prstGeom prst="rect">
            <a:avLst/>
          </a:prstGeom>
          <a:noFill/>
        </p:spPr>
        <p:txBody>
          <a:bodyPr wrap="square">
            <a:spAutoFit/>
          </a:bodyPr>
          <a:lstStyle/>
          <a:p>
            <a:r>
              <a:rPr lang="en-US" sz="1400" b="0" i="0" u="sng" strike="noStrike" baseline="0" dirty="0">
                <a:solidFill>
                  <a:srgbClr val="000000"/>
                </a:solidFill>
                <a:latin typeface="Arial" panose="020B0604020202020204" pitchFamily="34" charset="0"/>
              </a:rPr>
              <a:t>Flow Chart for Identification of Routine or Non-Routine Lifting Activities</a:t>
            </a:r>
            <a:endParaRPr lang="en-SG" sz="1400" u="sng" dirty="0"/>
          </a:p>
        </p:txBody>
      </p:sp>
      <p:sp>
        <p:nvSpPr>
          <p:cNvPr id="9" name="TextBox 8">
            <a:extLst>
              <a:ext uri="{FF2B5EF4-FFF2-40B4-BE49-F238E27FC236}">
                <a16:creationId xmlns:a16="http://schemas.microsoft.com/office/drawing/2014/main" id="{C29D5136-6042-BB66-9CEC-FC0D4ABA8175}"/>
              </a:ext>
            </a:extLst>
          </p:cNvPr>
          <p:cNvSpPr txBox="1"/>
          <p:nvPr/>
        </p:nvSpPr>
        <p:spPr>
          <a:xfrm>
            <a:off x="2360800" y="3704092"/>
            <a:ext cx="670268" cy="307777"/>
          </a:xfrm>
          <a:prstGeom prst="rect">
            <a:avLst/>
          </a:prstGeom>
          <a:solidFill>
            <a:schemeClr val="tx2">
              <a:lumMod val="25000"/>
              <a:lumOff val="75000"/>
            </a:schemeClr>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START</a:t>
            </a:r>
          </a:p>
        </p:txBody>
      </p:sp>
      <p:cxnSp>
        <p:nvCxnSpPr>
          <p:cNvPr id="12" name="Straight Arrow Connector 11">
            <a:extLst>
              <a:ext uri="{FF2B5EF4-FFF2-40B4-BE49-F238E27FC236}">
                <a16:creationId xmlns:a16="http://schemas.microsoft.com/office/drawing/2014/main" id="{4D100592-8547-A3CD-6885-9FF2AFB0D5CE}"/>
              </a:ext>
            </a:extLst>
          </p:cNvPr>
          <p:cNvCxnSpPr>
            <a:cxnSpLocks/>
          </p:cNvCxnSpPr>
          <p:nvPr/>
        </p:nvCxnSpPr>
        <p:spPr>
          <a:xfrm>
            <a:off x="2701290" y="4057227"/>
            <a:ext cx="0" cy="270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DB77C45-E39E-12D8-02C0-2E77B78338E4}"/>
              </a:ext>
            </a:extLst>
          </p:cNvPr>
          <p:cNvSpPr txBox="1"/>
          <p:nvPr/>
        </p:nvSpPr>
        <p:spPr>
          <a:xfrm>
            <a:off x="1242280" y="4369834"/>
            <a:ext cx="2907308" cy="307777"/>
          </a:xfrm>
          <a:prstGeom prst="rect">
            <a:avLst/>
          </a:prstGeom>
          <a:solidFill>
            <a:schemeClr val="tx2">
              <a:lumMod val="25000"/>
              <a:lumOff val="75000"/>
            </a:schemeClr>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Lifting of equipment more than 80 Tons</a:t>
            </a:r>
          </a:p>
        </p:txBody>
      </p:sp>
      <p:cxnSp>
        <p:nvCxnSpPr>
          <p:cNvPr id="16" name="Straight Arrow Connector 15">
            <a:extLst>
              <a:ext uri="{FF2B5EF4-FFF2-40B4-BE49-F238E27FC236}">
                <a16:creationId xmlns:a16="http://schemas.microsoft.com/office/drawing/2014/main" id="{F12EA290-8875-977B-63A6-54942B308B43}"/>
              </a:ext>
            </a:extLst>
          </p:cNvPr>
          <p:cNvCxnSpPr>
            <a:cxnSpLocks/>
          </p:cNvCxnSpPr>
          <p:nvPr/>
        </p:nvCxnSpPr>
        <p:spPr>
          <a:xfrm>
            <a:off x="2695934" y="4724400"/>
            <a:ext cx="0" cy="270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B2066D0-A034-7C17-6228-186501B7677E}"/>
              </a:ext>
            </a:extLst>
          </p:cNvPr>
          <p:cNvSpPr txBox="1"/>
          <p:nvPr/>
        </p:nvSpPr>
        <p:spPr>
          <a:xfrm>
            <a:off x="1242280" y="5055271"/>
            <a:ext cx="2907308" cy="523220"/>
          </a:xfrm>
          <a:prstGeom prst="rect">
            <a:avLst/>
          </a:prstGeom>
          <a:solidFill>
            <a:schemeClr val="tx2">
              <a:lumMod val="25000"/>
              <a:lumOff val="75000"/>
            </a:schemeClr>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Requires Tandem Lifting or Special Crane Configuration. (E.g. Fly-Jib)</a:t>
            </a:r>
          </a:p>
        </p:txBody>
      </p:sp>
      <p:cxnSp>
        <p:nvCxnSpPr>
          <p:cNvPr id="18" name="Straight Arrow Connector 17">
            <a:extLst>
              <a:ext uri="{FF2B5EF4-FFF2-40B4-BE49-F238E27FC236}">
                <a16:creationId xmlns:a16="http://schemas.microsoft.com/office/drawing/2014/main" id="{5313F2EB-07C8-86D5-ED1B-D9EE9FEAB658}"/>
              </a:ext>
            </a:extLst>
          </p:cNvPr>
          <p:cNvCxnSpPr>
            <a:cxnSpLocks/>
          </p:cNvCxnSpPr>
          <p:nvPr/>
        </p:nvCxnSpPr>
        <p:spPr>
          <a:xfrm>
            <a:off x="2685921" y="5614128"/>
            <a:ext cx="0" cy="270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053CDC3D-BE68-B861-07A2-461CC9D3A23E}"/>
              </a:ext>
            </a:extLst>
          </p:cNvPr>
          <p:cNvSpPr txBox="1"/>
          <p:nvPr/>
        </p:nvSpPr>
        <p:spPr>
          <a:xfrm>
            <a:off x="1242280" y="5936367"/>
            <a:ext cx="2907308" cy="523220"/>
          </a:xfrm>
          <a:prstGeom prst="rect">
            <a:avLst/>
          </a:prstGeom>
          <a:solidFill>
            <a:schemeClr val="tx2">
              <a:lumMod val="25000"/>
              <a:lumOff val="75000"/>
            </a:schemeClr>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Lifting Of Machinery without known Lifting Points</a:t>
            </a:r>
          </a:p>
        </p:txBody>
      </p:sp>
      <p:cxnSp>
        <p:nvCxnSpPr>
          <p:cNvPr id="20" name="Straight Arrow Connector 19">
            <a:extLst>
              <a:ext uri="{FF2B5EF4-FFF2-40B4-BE49-F238E27FC236}">
                <a16:creationId xmlns:a16="http://schemas.microsoft.com/office/drawing/2014/main" id="{ED2E342D-3D33-A133-5083-360ED884D2A3}"/>
              </a:ext>
            </a:extLst>
          </p:cNvPr>
          <p:cNvCxnSpPr>
            <a:cxnSpLocks/>
          </p:cNvCxnSpPr>
          <p:nvPr/>
        </p:nvCxnSpPr>
        <p:spPr>
          <a:xfrm>
            <a:off x="2685921" y="6495224"/>
            <a:ext cx="0" cy="270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19950446-C828-2EF3-01CD-B9FE3DFEDBD5}"/>
              </a:ext>
            </a:extLst>
          </p:cNvPr>
          <p:cNvSpPr txBox="1"/>
          <p:nvPr/>
        </p:nvSpPr>
        <p:spPr>
          <a:xfrm>
            <a:off x="1242280" y="6817463"/>
            <a:ext cx="2907308" cy="523220"/>
          </a:xfrm>
          <a:prstGeom prst="rect">
            <a:avLst/>
          </a:prstGeom>
          <a:solidFill>
            <a:schemeClr val="tx2">
              <a:lumMod val="25000"/>
              <a:lumOff val="75000"/>
            </a:schemeClr>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Lifting more than 75% of Rated Load Chart</a:t>
            </a:r>
          </a:p>
        </p:txBody>
      </p:sp>
      <p:cxnSp>
        <p:nvCxnSpPr>
          <p:cNvPr id="22" name="Straight Arrow Connector 21">
            <a:extLst>
              <a:ext uri="{FF2B5EF4-FFF2-40B4-BE49-F238E27FC236}">
                <a16:creationId xmlns:a16="http://schemas.microsoft.com/office/drawing/2014/main" id="{750CFF06-BD4F-CBBF-B10A-10393E476731}"/>
              </a:ext>
            </a:extLst>
          </p:cNvPr>
          <p:cNvCxnSpPr>
            <a:cxnSpLocks/>
          </p:cNvCxnSpPr>
          <p:nvPr/>
        </p:nvCxnSpPr>
        <p:spPr>
          <a:xfrm>
            <a:off x="2685921" y="7389664"/>
            <a:ext cx="0" cy="270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09CAC4D3-9BBF-C29A-84DB-AF37B77BE220}"/>
              </a:ext>
            </a:extLst>
          </p:cNvPr>
          <p:cNvSpPr txBox="1"/>
          <p:nvPr/>
        </p:nvSpPr>
        <p:spPr>
          <a:xfrm>
            <a:off x="1242280" y="7711903"/>
            <a:ext cx="2907308" cy="523220"/>
          </a:xfrm>
          <a:prstGeom prst="rect">
            <a:avLst/>
          </a:prstGeom>
          <a:solidFill>
            <a:schemeClr val="tx2">
              <a:lumMod val="25000"/>
              <a:lumOff val="75000"/>
            </a:schemeClr>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Irregular shape / Difficult to estimate weight and </a:t>
            </a:r>
            <a:r>
              <a:rPr lang="en-SG" sz="1400" dirty="0" err="1">
                <a:latin typeface="Arial Narrow" panose="020B0606020202030204" pitchFamily="34" charset="0"/>
              </a:rPr>
              <a:t>Center</a:t>
            </a:r>
            <a:r>
              <a:rPr lang="en-SG" sz="1400" dirty="0">
                <a:latin typeface="Arial Narrow" panose="020B0606020202030204" pitchFamily="34" charset="0"/>
              </a:rPr>
              <a:t> of Gravity</a:t>
            </a:r>
          </a:p>
        </p:txBody>
      </p:sp>
      <p:cxnSp>
        <p:nvCxnSpPr>
          <p:cNvPr id="24" name="Straight Arrow Connector 23">
            <a:extLst>
              <a:ext uri="{FF2B5EF4-FFF2-40B4-BE49-F238E27FC236}">
                <a16:creationId xmlns:a16="http://schemas.microsoft.com/office/drawing/2014/main" id="{8F01CDF3-E704-E8B3-68CB-F27F9227382A}"/>
              </a:ext>
            </a:extLst>
          </p:cNvPr>
          <p:cNvCxnSpPr>
            <a:cxnSpLocks/>
          </p:cNvCxnSpPr>
          <p:nvPr/>
        </p:nvCxnSpPr>
        <p:spPr>
          <a:xfrm>
            <a:off x="2685921" y="8302688"/>
            <a:ext cx="0" cy="270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6D552CE-643B-C38E-FCE6-0893EB5472C8}"/>
              </a:ext>
            </a:extLst>
          </p:cNvPr>
          <p:cNvSpPr txBox="1"/>
          <p:nvPr/>
        </p:nvSpPr>
        <p:spPr>
          <a:xfrm>
            <a:off x="2194541" y="8675509"/>
            <a:ext cx="982760" cy="307777"/>
          </a:xfrm>
          <a:prstGeom prst="rect">
            <a:avLst/>
          </a:prstGeom>
          <a:solidFill>
            <a:srgbClr val="92D050"/>
          </a:solidFill>
          <a:ln>
            <a:solidFill>
              <a:schemeClr val="accent1">
                <a:shade val="15000"/>
              </a:schemeClr>
            </a:solidFill>
          </a:ln>
        </p:spPr>
        <p:txBody>
          <a:bodyPr wrap="square" rtlCol="0">
            <a:spAutoFit/>
          </a:bodyPr>
          <a:lstStyle/>
          <a:p>
            <a:r>
              <a:rPr lang="en-SG" sz="1400" dirty="0">
                <a:latin typeface="Arial Narrow" panose="020B0606020202030204" pitchFamily="34" charset="0"/>
              </a:rPr>
              <a:t>Routine Lift</a:t>
            </a:r>
          </a:p>
        </p:txBody>
      </p:sp>
      <p:cxnSp>
        <p:nvCxnSpPr>
          <p:cNvPr id="27" name="Straight Arrow Connector 26">
            <a:extLst>
              <a:ext uri="{FF2B5EF4-FFF2-40B4-BE49-F238E27FC236}">
                <a16:creationId xmlns:a16="http://schemas.microsoft.com/office/drawing/2014/main" id="{AF7FF05B-DCCC-FAB6-96D8-EEE831BDAA7B}"/>
              </a:ext>
            </a:extLst>
          </p:cNvPr>
          <p:cNvCxnSpPr/>
          <p:nvPr/>
        </p:nvCxnSpPr>
        <p:spPr>
          <a:xfrm>
            <a:off x="4273974" y="4480560"/>
            <a:ext cx="717973" cy="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0D95A44-856E-F349-57A2-72DD4F2AC53A}"/>
              </a:ext>
            </a:extLst>
          </p:cNvPr>
          <p:cNvCxnSpPr/>
          <p:nvPr/>
        </p:nvCxnSpPr>
        <p:spPr>
          <a:xfrm>
            <a:off x="4273973" y="5283200"/>
            <a:ext cx="717973" cy="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ECB4E39-1AE7-D8ED-DE34-7ADFBC2D6A42}"/>
              </a:ext>
            </a:extLst>
          </p:cNvPr>
          <p:cNvCxnSpPr/>
          <p:nvPr/>
        </p:nvCxnSpPr>
        <p:spPr>
          <a:xfrm>
            <a:off x="4273973" y="6143413"/>
            <a:ext cx="717973" cy="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CC7AD6D-2EC8-D931-7199-1AE3606E9921}"/>
              </a:ext>
            </a:extLst>
          </p:cNvPr>
          <p:cNvCxnSpPr/>
          <p:nvPr/>
        </p:nvCxnSpPr>
        <p:spPr>
          <a:xfrm>
            <a:off x="4273973" y="7048593"/>
            <a:ext cx="717973" cy="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198AB68-F5C4-CDFF-8258-75D6630BAA7A}"/>
              </a:ext>
            </a:extLst>
          </p:cNvPr>
          <p:cNvCxnSpPr/>
          <p:nvPr/>
        </p:nvCxnSpPr>
        <p:spPr>
          <a:xfrm>
            <a:off x="4273973" y="7973513"/>
            <a:ext cx="717973" cy="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0D36272-BECA-AEAB-6B82-DEF67EED9B87}"/>
              </a:ext>
            </a:extLst>
          </p:cNvPr>
          <p:cNvSpPr txBox="1"/>
          <p:nvPr/>
        </p:nvSpPr>
        <p:spPr>
          <a:xfrm>
            <a:off x="5116331" y="5989524"/>
            <a:ext cx="1458476" cy="307777"/>
          </a:xfrm>
          <a:prstGeom prst="rect">
            <a:avLst/>
          </a:prstGeom>
          <a:solidFill>
            <a:srgbClr val="FF0000"/>
          </a:solidFill>
          <a:ln>
            <a:solidFill>
              <a:schemeClr val="accent2">
                <a:lumMod val="75000"/>
              </a:schemeClr>
            </a:solidFill>
          </a:ln>
        </p:spPr>
        <p:txBody>
          <a:bodyPr wrap="none" rtlCol="0">
            <a:spAutoFit/>
          </a:bodyPr>
          <a:lstStyle/>
          <a:p>
            <a:r>
              <a:rPr lang="en-SG" sz="1400" dirty="0"/>
              <a:t>Non-Routine Lift</a:t>
            </a:r>
          </a:p>
        </p:txBody>
      </p:sp>
      <p:cxnSp>
        <p:nvCxnSpPr>
          <p:cNvPr id="36" name="Straight Arrow Connector 35">
            <a:extLst>
              <a:ext uri="{FF2B5EF4-FFF2-40B4-BE49-F238E27FC236}">
                <a16:creationId xmlns:a16="http://schemas.microsoft.com/office/drawing/2014/main" id="{DEC9E43E-977C-5BA3-1616-792EA8D63D90}"/>
              </a:ext>
            </a:extLst>
          </p:cNvPr>
          <p:cNvCxnSpPr>
            <a:cxnSpLocks/>
          </p:cNvCxnSpPr>
          <p:nvPr/>
        </p:nvCxnSpPr>
        <p:spPr>
          <a:xfrm flipV="1">
            <a:off x="5842364" y="6459587"/>
            <a:ext cx="3205" cy="160745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A0B40BCA-E84C-2800-648C-359EAE01EF01}"/>
              </a:ext>
            </a:extLst>
          </p:cNvPr>
          <p:cNvCxnSpPr>
            <a:cxnSpLocks/>
          </p:cNvCxnSpPr>
          <p:nvPr/>
        </p:nvCxnSpPr>
        <p:spPr>
          <a:xfrm>
            <a:off x="5842364" y="4413567"/>
            <a:ext cx="0" cy="14714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43" name="Table 42">
            <a:extLst>
              <a:ext uri="{FF2B5EF4-FFF2-40B4-BE49-F238E27FC236}">
                <a16:creationId xmlns:a16="http://schemas.microsoft.com/office/drawing/2014/main" id="{C3FA72C9-359C-371A-D998-C554234D7043}"/>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44" name="Picture 43" descr="A close-up of a stamp&#10;&#10;AI-generated content may be incorrect.">
            <a:extLst>
              <a:ext uri="{FF2B5EF4-FFF2-40B4-BE49-F238E27FC236}">
                <a16:creationId xmlns:a16="http://schemas.microsoft.com/office/drawing/2014/main" id="{CA05CBAD-E607-8D22-CA0B-E2372E733E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F9828765-E0B5-D5E7-D075-520DB9674181}"/>
              </a:ext>
            </a:extLst>
          </p:cNvPr>
          <p:cNvSpPr>
            <a:spLocks noGrp="1"/>
          </p:cNvSpPr>
          <p:nvPr>
            <p:ph type="sldNum" sz="quarter" idx="12"/>
          </p:nvPr>
        </p:nvSpPr>
        <p:spPr/>
        <p:txBody>
          <a:bodyPr/>
          <a:lstStyle/>
          <a:p>
            <a:fld id="{F0052729-9336-4E5B-BC69-5177B8B6DD05}" type="slidenum">
              <a:rPr lang="en-SG" smtClean="0"/>
              <a:t>7</a:t>
            </a:fld>
            <a:endParaRPr lang="en-SG"/>
          </a:p>
        </p:txBody>
      </p:sp>
    </p:spTree>
    <p:extLst>
      <p:ext uri="{BB962C8B-B14F-4D97-AF65-F5344CB8AC3E}">
        <p14:creationId xmlns:p14="http://schemas.microsoft.com/office/powerpoint/2010/main" val="1943514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877E-178E-287D-41D6-4B11253F77E9}"/>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067878D-3443-778B-3F49-FB1154676334}"/>
              </a:ext>
            </a:extLst>
          </p:cNvPr>
          <p:cNvGrpSpPr/>
          <p:nvPr/>
        </p:nvGrpSpPr>
        <p:grpSpPr>
          <a:xfrm>
            <a:off x="0" y="1"/>
            <a:ext cx="6857999" cy="1323439"/>
            <a:chOff x="701748" y="108190"/>
            <a:chExt cx="5454507" cy="1493571"/>
          </a:xfrm>
        </p:grpSpPr>
        <p:sp>
          <p:nvSpPr>
            <p:cNvPr id="6" name="TextBox 5">
              <a:extLst>
                <a:ext uri="{FF2B5EF4-FFF2-40B4-BE49-F238E27FC236}">
                  <a16:creationId xmlns:a16="http://schemas.microsoft.com/office/drawing/2014/main" id="{2B121AE4-9280-A59D-7F45-76AE40265185}"/>
                </a:ext>
              </a:extLst>
            </p:cNvPr>
            <p:cNvSpPr txBox="1"/>
            <p:nvPr/>
          </p:nvSpPr>
          <p:spPr>
            <a:xfrm>
              <a:off x="701748" y="108190"/>
              <a:ext cx="5454507" cy="149357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pPr algn="ctr"/>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0CF8F66B-CBD3-EC56-4E26-9A3DED7A1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9" name="TextBox 8">
            <a:extLst>
              <a:ext uri="{FF2B5EF4-FFF2-40B4-BE49-F238E27FC236}">
                <a16:creationId xmlns:a16="http://schemas.microsoft.com/office/drawing/2014/main" id="{5C16173B-A6D7-EC2E-6725-E1B4527C1C78}"/>
              </a:ext>
            </a:extLst>
          </p:cNvPr>
          <p:cNvSpPr txBox="1"/>
          <p:nvPr/>
        </p:nvSpPr>
        <p:spPr>
          <a:xfrm>
            <a:off x="2291509" y="3332480"/>
            <a:ext cx="2274982" cy="230832"/>
          </a:xfrm>
          <a:prstGeom prst="rect">
            <a:avLst/>
          </a:prstGeom>
          <a:solidFill>
            <a:schemeClr val="bg2">
              <a:lumMod val="90000"/>
            </a:schemeClr>
          </a:solidFill>
        </p:spPr>
        <p:txBody>
          <a:bodyPr wrap="none" rtlCol="0">
            <a:spAutoFit/>
          </a:bodyPr>
          <a:lstStyle/>
          <a:p>
            <a:pPr algn="ctr"/>
            <a:r>
              <a:rPr lang="en-SG" sz="900" dirty="0"/>
              <a:t>Identify the needs for the Lifting Operation</a:t>
            </a:r>
          </a:p>
        </p:txBody>
      </p:sp>
      <p:cxnSp>
        <p:nvCxnSpPr>
          <p:cNvPr id="12" name="Straight Arrow Connector 11">
            <a:extLst>
              <a:ext uri="{FF2B5EF4-FFF2-40B4-BE49-F238E27FC236}">
                <a16:creationId xmlns:a16="http://schemas.microsoft.com/office/drawing/2014/main" id="{CB0FF771-0E50-95D2-F3E0-1DC1B62C0BCC}"/>
              </a:ext>
            </a:extLst>
          </p:cNvPr>
          <p:cNvCxnSpPr/>
          <p:nvPr/>
        </p:nvCxnSpPr>
        <p:spPr>
          <a:xfrm>
            <a:off x="3354922" y="3596640"/>
            <a:ext cx="0" cy="1490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CEE1ED7-B9CB-F325-B39F-2AA4D7D28C42}"/>
              </a:ext>
            </a:extLst>
          </p:cNvPr>
          <p:cNvSpPr txBox="1"/>
          <p:nvPr/>
        </p:nvSpPr>
        <p:spPr>
          <a:xfrm>
            <a:off x="1616613" y="3778981"/>
            <a:ext cx="3476616" cy="230832"/>
          </a:xfrm>
          <a:prstGeom prst="rect">
            <a:avLst/>
          </a:prstGeom>
          <a:solidFill>
            <a:schemeClr val="bg2">
              <a:lumMod val="90000"/>
            </a:schemeClr>
          </a:solidFill>
        </p:spPr>
        <p:txBody>
          <a:bodyPr wrap="square" rtlCol="0">
            <a:spAutoFit/>
          </a:bodyPr>
          <a:lstStyle/>
          <a:p>
            <a:pPr algn="ctr"/>
            <a:r>
              <a:rPr lang="en-SG" sz="900" dirty="0"/>
              <a:t>Competent Personnel/ Lifting Supervisor to plan the Job Operation</a:t>
            </a:r>
          </a:p>
        </p:txBody>
      </p:sp>
      <p:cxnSp>
        <p:nvCxnSpPr>
          <p:cNvPr id="20" name="Straight Connector 19">
            <a:extLst>
              <a:ext uri="{FF2B5EF4-FFF2-40B4-BE49-F238E27FC236}">
                <a16:creationId xmlns:a16="http://schemas.microsoft.com/office/drawing/2014/main" id="{76A200C4-8294-3D5F-AFD6-A722B09A9F2D}"/>
              </a:ext>
            </a:extLst>
          </p:cNvPr>
          <p:cNvCxnSpPr/>
          <p:nvPr/>
        </p:nvCxnSpPr>
        <p:spPr>
          <a:xfrm>
            <a:off x="3358307" y="4043680"/>
            <a:ext cx="0" cy="125307"/>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B30E5D7-84BF-A8BB-5872-6D8FF04055F6}"/>
              </a:ext>
            </a:extLst>
          </p:cNvPr>
          <p:cNvCxnSpPr>
            <a:cxnSpLocks/>
          </p:cNvCxnSpPr>
          <p:nvPr/>
        </p:nvCxnSpPr>
        <p:spPr>
          <a:xfrm>
            <a:off x="1737360" y="4158616"/>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DDD9157-72E4-963B-FE78-0D2D62A1883A}"/>
              </a:ext>
            </a:extLst>
          </p:cNvPr>
          <p:cNvCxnSpPr>
            <a:cxnSpLocks/>
          </p:cNvCxnSpPr>
          <p:nvPr/>
        </p:nvCxnSpPr>
        <p:spPr>
          <a:xfrm flipH="1">
            <a:off x="1737360" y="4168987"/>
            <a:ext cx="161756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C2927737-4D16-3792-B611-CADC27ECBCAB}"/>
              </a:ext>
            </a:extLst>
          </p:cNvPr>
          <p:cNvCxnSpPr>
            <a:cxnSpLocks/>
          </p:cNvCxnSpPr>
          <p:nvPr/>
        </p:nvCxnSpPr>
        <p:spPr>
          <a:xfrm flipH="1">
            <a:off x="3354921" y="4168987"/>
            <a:ext cx="173830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85A6ED3-C17C-3E78-2D78-4B689C8A019B}"/>
              </a:ext>
            </a:extLst>
          </p:cNvPr>
          <p:cNvCxnSpPr>
            <a:cxnSpLocks/>
          </p:cNvCxnSpPr>
          <p:nvPr/>
        </p:nvCxnSpPr>
        <p:spPr>
          <a:xfrm>
            <a:off x="5093229" y="4158616"/>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C00FB34-F2AB-0A3F-A2E5-6ABD757353BD}"/>
              </a:ext>
            </a:extLst>
          </p:cNvPr>
          <p:cNvSpPr txBox="1"/>
          <p:nvPr/>
        </p:nvSpPr>
        <p:spPr>
          <a:xfrm>
            <a:off x="178272" y="4295531"/>
            <a:ext cx="3314484" cy="369332"/>
          </a:xfrm>
          <a:prstGeom prst="rect">
            <a:avLst/>
          </a:prstGeom>
          <a:solidFill>
            <a:schemeClr val="bg2">
              <a:lumMod val="90000"/>
            </a:schemeClr>
          </a:solidFill>
        </p:spPr>
        <p:txBody>
          <a:bodyPr wrap="square" rtlCol="0">
            <a:spAutoFit/>
          </a:bodyPr>
          <a:lstStyle/>
          <a:p>
            <a:pPr algn="ctr"/>
            <a:r>
              <a:rPr lang="en-SG" sz="900" dirty="0"/>
              <a:t>Carry out Risk Assessment. To Ensure all Risk are eliminated or reduced to ALARP</a:t>
            </a:r>
          </a:p>
        </p:txBody>
      </p:sp>
      <p:cxnSp>
        <p:nvCxnSpPr>
          <p:cNvPr id="30" name="Straight Arrow Connector 29">
            <a:extLst>
              <a:ext uri="{FF2B5EF4-FFF2-40B4-BE49-F238E27FC236}">
                <a16:creationId xmlns:a16="http://schemas.microsoft.com/office/drawing/2014/main" id="{58053874-654B-2783-005F-A2C3FC7AB930}"/>
              </a:ext>
            </a:extLst>
          </p:cNvPr>
          <p:cNvCxnSpPr>
            <a:cxnSpLocks/>
          </p:cNvCxnSpPr>
          <p:nvPr/>
        </p:nvCxnSpPr>
        <p:spPr>
          <a:xfrm>
            <a:off x="1737360" y="4696723"/>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81D7DAC-E70C-F094-6986-7C1050D0A167}"/>
              </a:ext>
            </a:extLst>
          </p:cNvPr>
          <p:cNvSpPr txBox="1"/>
          <p:nvPr/>
        </p:nvSpPr>
        <p:spPr>
          <a:xfrm>
            <a:off x="330945" y="4869678"/>
            <a:ext cx="2812830" cy="369332"/>
          </a:xfrm>
          <a:prstGeom prst="rect">
            <a:avLst/>
          </a:prstGeom>
          <a:solidFill>
            <a:schemeClr val="bg2">
              <a:lumMod val="90000"/>
            </a:schemeClr>
          </a:solidFill>
        </p:spPr>
        <p:txBody>
          <a:bodyPr wrap="square" rtlCol="0">
            <a:spAutoFit/>
          </a:bodyPr>
          <a:lstStyle/>
          <a:p>
            <a:pPr algn="ctr"/>
            <a:r>
              <a:rPr lang="en-SG" sz="900" dirty="0"/>
              <a:t>Competent Personnel (Lifting Supervisor) to establish Lifting Plan</a:t>
            </a:r>
          </a:p>
        </p:txBody>
      </p:sp>
      <p:cxnSp>
        <p:nvCxnSpPr>
          <p:cNvPr id="33" name="Straight Arrow Connector 32">
            <a:extLst>
              <a:ext uri="{FF2B5EF4-FFF2-40B4-BE49-F238E27FC236}">
                <a16:creationId xmlns:a16="http://schemas.microsoft.com/office/drawing/2014/main" id="{8CB6E418-1776-D92E-C76C-BC0F24E2924E}"/>
              </a:ext>
            </a:extLst>
          </p:cNvPr>
          <p:cNvCxnSpPr>
            <a:cxnSpLocks/>
          </p:cNvCxnSpPr>
          <p:nvPr/>
        </p:nvCxnSpPr>
        <p:spPr>
          <a:xfrm>
            <a:off x="1737360" y="5263440"/>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555A217B-0CE0-CC84-43E5-1556397F5F52}"/>
              </a:ext>
            </a:extLst>
          </p:cNvPr>
          <p:cNvSpPr txBox="1"/>
          <p:nvPr/>
        </p:nvSpPr>
        <p:spPr>
          <a:xfrm>
            <a:off x="185691" y="5472688"/>
            <a:ext cx="3103338" cy="229348"/>
          </a:xfrm>
          <a:prstGeom prst="rect">
            <a:avLst/>
          </a:prstGeom>
          <a:solidFill>
            <a:schemeClr val="bg2">
              <a:lumMod val="90000"/>
            </a:schemeClr>
          </a:solidFill>
        </p:spPr>
        <p:txBody>
          <a:bodyPr wrap="square" rtlCol="0">
            <a:spAutoFit/>
          </a:bodyPr>
          <a:lstStyle/>
          <a:p>
            <a:pPr algn="ctr"/>
            <a:r>
              <a:rPr lang="en-SG" sz="900" dirty="0"/>
              <a:t>Review and Update if Required / Approved by Safety Officer</a:t>
            </a:r>
          </a:p>
        </p:txBody>
      </p:sp>
      <p:sp>
        <p:nvSpPr>
          <p:cNvPr id="36" name="TextBox 35">
            <a:extLst>
              <a:ext uri="{FF2B5EF4-FFF2-40B4-BE49-F238E27FC236}">
                <a16:creationId xmlns:a16="http://schemas.microsoft.com/office/drawing/2014/main" id="{9C2042EC-C686-1F5A-0FD3-018EBF376647}"/>
              </a:ext>
            </a:extLst>
          </p:cNvPr>
          <p:cNvSpPr txBox="1"/>
          <p:nvPr/>
        </p:nvSpPr>
        <p:spPr>
          <a:xfrm>
            <a:off x="3695915" y="4325692"/>
            <a:ext cx="2844586" cy="507831"/>
          </a:xfrm>
          <a:prstGeom prst="rect">
            <a:avLst/>
          </a:prstGeom>
          <a:solidFill>
            <a:srgbClr val="FF0000"/>
          </a:solidFill>
        </p:spPr>
        <p:txBody>
          <a:bodyPr wrap="square" rtlCol="0">
            <a:spAutoFit/>
          </a:bodyPr>
          <a:lstStyle/>
          <a:p>
            <a:pPr algn="ctr"/>
            <a:r>
              <a:rPr lang="en-SG" sz="900" dirty="0"/>
              <a:t>Carry out Risk Assessment (New or Modified according to job scope) Ensure all risk are eliminated or reduced to an ALARP</a:t>
            </a:r>
          </a:p>
        </p:txBody>
      </p:sp>
      <p:sp>
        <p:nvSpPr>
          <p:cNvPr id="39" name="TextBox 38">
            <a:extLst>
              <a:ext uri="{FF2B5EF4-FFF2-40B4-BE49-F238E27FC236}">
                <a16:creationId xmlns:a16="http://schemas.microsoft.com/office/drawing/2014/main" id="{8B19E2D0-2E77-9821-2FBE-89B282A437F7}"/>
              </a:ext>
            </a:extLst>
          </p:cNvPr>
          <p:cNvSpPr txBox="1"/>
          <p:nvPr/>
        </p:nvSpPr>
        <p:spPr>
          <a:xfrm>
            <a:off x="3670936" y="5039736"/>
            <a:ext cx="2844586" cy="507831"/>
          </a:xfrm>
          <a:prstGeom prst="rect">
            <a:avLst/>
          </a:prstGeom>
          <a:solidFill>
            <a:srgbClr val="FF0000"/>
          </a:solidFill>
        </p:spPr>
        <p:txBody>
          <a:bodyPr wrap="square" rtlCol="0">
            <a:spAutoFit/>
          </a:bodyPr>
          <a:lstStyle/>
          <a:p>
            <a:pPr algn="ctr"/>
            <a:r>
              <a:rPr lang="en-SG" sz="900" dirty="0"/>
              <a:t>Competent Personnel (Lifting Supervisor) to establish Lifting Plan (New or Modified according to job scope and method of lifting)</a:t>
            </a:r>
          </a:p>
        </p:txBody>
      </p:sp>
      <p:cxnSp>
        <p:nvCxnSpPr>
          <p:cNvPr id="40" name="Straight Arrow Connector 39">
            <a:extLst>
              <a:ext uri="{FF2B5EF4-FFF2-40B4-BE49-F238E27FC236}">
                <a16:creationId xmlns:a16="http://schemas.microsoft.com/office/drawing/2014/main" id="{4C5BC8B3-F29C-6A28-7E84-399248D02C0C}"/>
              </a:ext>
            </a:extLst>
          </p:cNvPr>
          <p:cNvCxnSpPr>
            <a:cxnSpLocks/>
          </p:cNvCxnSpPr>
          <p:nvPr/>
        </p:nvCxnSpPr>
        <p:spPr>
          <a:xfrm>
            <a:off x="5093229" y="4852722"/>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5A8A2FEC-9503-7F1E-876D-6610FE2944CF}"/>
              </a:ext>
            </a:extLst>
          </p:cNvPr>
          <p:cNvCxnSpPr>
            <a:cxnSpLocks/>
          </p:cNvCxnSpPr>
          <p:nvPr/>
        </p:nvCxnSpPr>
        <p:spPr>
          <a:xfrm>
            <a:off x="1737360" y="5772548"/>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1B552DBB-77B5-5330-47E0-CDC72086754F}"/>
              </a:ext>
            </a:extLst>
          </p:cNvPr>
          <p:cNvSpPr txBox="1"/>
          <p:nvPr/>
        </p:nvSpPr>
        <p:spPr>
          <a:xfrm>
            <a:off x="185691" y="5981796"/>
            <a:ext cx="3103338" cy="229348"/>
          </a:xfrm>
          <a:prstGeom prst="rect">
            <a:avLst/>
          </a:prstGeom>
          <a:solidFill>
            <a:schemeClr val="bg2">
              <a:lumMod val="90000"/>
            </a:schemeClr>
          </a:solidFill>
        </p:spPr>
        <p:txBody>
          <a:bodyPr wrap="square" rtlCol="0">
            <a:spAutoFit/>
          </a:bodyPr>
          <a:lstStyle/>
          <a:p>
            <a:pPr algn="ctr"/>
            <a:r>
              <a:rPr lang="en-SG" sz="900" dirty="0"/>
              <a:t>Appoint team appropriate for the Lifting Operation</a:t>
            </a:r>
          </a:p>
        </p:txBody>
      </p:sp>
      <p:cxnSp>
        <p:nvCxnSpPr>
          <p:cNvPr id="53" name="Straight Arrow Connector 52">
            <a:extLst>
              <a:ext uri="{FF2B5EF4-FFF2-40B4-BE49-F238E27FC236}">
                <a16:creationId xmlns:a16="http://schemas.microsoft.com/office/drawing/2014/main" id="{F9FE0C31-970C-2A87-D957-64E18D002962}"/>
              </a:ext>
            </a:extLst>
          </p:cNvPr>
          <p:cNvCxnSpPr>
            <a:cxnSpLocks/>
          </p:cNvCxnSpPr>
          <p:nvPr/>
        </p:nvCxnSpPr>
        <p:spPr>
          <a:xfrm>
            <a:off x="1737360" y="6307472"/>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185D632C-80F5-ADDC-A152-BA91B4E462C9}"/>
              </a:ext>
            </a:extLst>
          </p:cNvPr>
          <p:cNvSpPr txBox="1"/>
          <p:nvPr/>
        </p:nvSpPr>
        <p:spPr>
          <a:xfrm>
            <a:off x="185691" y="6516720"/>
            <a:ext cx="3103338" cy="646331"/>
          </a:xfrm>
          <a:prstGeom prst="rect">
            <a:avLst/>
          </a:prstGeom>
          <a:solidFill>
            <a:schemeClr val="bg2">
              <a:lumMod val="90000"/>
            </a:schemeClr>
          </a:solidFill>
        </p:spPr>
        <p:txBody>
          <a:bodyPr wrap="square" rtlCol="0">
            <a:spAutoFit/>
          </a:bodyPr>
          <a:lstStyle/>
          <a:p>
            <a:pPr algn="ctr"/>
            <a:r>
              <a:rPr lang="en-SG" sz="900" dirty="0"/>
              <a:t>Toolbox Meeting to Review Risk Assessment , Lifting Plan, Emergency Response and Contingency Plan. Include all Personnel involved in the Lifting Operation ensure Permit to work is in place. </a:t>
            </a:r>
          </a:p>
        </p:txBody>
      </p:sp>
      <p:cxnSp>
        <p:nvCxnSpPr>
          <p:cNvPr id="55" name="Straight Arrow Connector 54">
            <a:extLst>
              <a:ext uri="{FF2B5EF4-FFF2-40B4-BE49-F238E27FC236}">
                <a16:creationId xmlns:a16="http://schemas.microsoft.com/office/drawing/2014/main" id="{E149F86B-FD5A-549F-9BBF-EEA500E45A1F}"/>
              </a:ext>
            </a:extLst>
          </p:cNvPr>
          <p:cNvCxnSpPr>
            <a:cxnSpLocks/>
          </p:cNvCxnSpPr>
          <p:nvPr/>
        </p:nvCxnSpPr>
        <p:spPr>
          <a:xfrm>
            <a:off x="1737360" y="7224320"/>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271DA118-E8B1-EED3-4E84-0A677DBFEE0B}"/>
              </a:ext>
            </a:extLst>
          </p:cNvPr>
          <p:cNvSpPr txBox="1"/>
          <p:nvPr/>
        </p:nvSpPr>
        <p:spPr>
          <a:xfrm>
            <a:off x="185691" y="7433568"/>
            <a:ext cx="3103338" cy="229348"/>
          </a:xfrm>
          <a:prstGeom prst="rect">
            <a:avLst/>
          </a:prstGeom>
          <a:solidFill>
            <a:schemeClr val="bg2">
              <a:lumMod val="90000"/>
            </a:schemeClr>
          </a:solidFill>
        </p:spPr>
        <p:txBody>
          <a:bodyPr wrap="square" rtlCol="0">
            <a:spAutoFit/>
          </a:bodyPr>
          <a:lstStyle/>
          <a:p>
            <a:r>
              <a:rPr lang="en-SG" sz="900" dirty="0"/>
              <a:t>Execute Lifting Operation with appropriate </a:t>
            </a:r>
            <a:r>
              <a:rPr lang="en-SG" sz="900" dirty="0" err="1"/>
              <a:t>supervison</a:t>
            </a:r>
            <a:endParaRPr lang="en-SG" sz="900" dirty="0"/>
          </a:p>
        </p:txBody>
      </p:sp>
      <p:cxnSp>
        <p:nvCxnSpPr>
          <p:cNvPr id="57" name="Straight Arrow Connector 56">
            <a:extLst>
              <a:ext uri="{FF2B5EF4-FFF2-40B4-BE49-F238E27FC236}">
                <a16:creationId xmlns:a16="http://schemas.microsoft.com/office/drawing/2014/main" id="{676E31FE-25F3-52CF-A24A-BA8FC9708DD8}"/>
              </a:ext>
            </a:extLst>
          </p:cNvPr>
          <p:cNvCxnSpPr>
            <a:cxnSpLocks/>
          </p:cNvCxnSpPr>
          <p:nvPr/>
        </p:nvCxnSpPr>
        <p:spPr>
          <a:xfrm>
            <a:off x="1729941" y="7726482"/>
            <a:ext cx="0" cy="145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148741A3-1DF5-9A75-27FC-0E50C158997F}"/>
              </a:ext>
            </a:extLst>
          </p:cNvPr>
          <p:cNvSpPr txBox="1"/>
          <p:nvPr/>
        </p:nvSpPr>
        <p:spPr>
          <a:xfrm>
            <a:off x="178272" y="7935730"/>
            <a:ext cx="3103338" cy="229348"/>
          </a:xfrm>
          <a:prstGeom prst="rect">
            <a:avLst/>
          </a:prstGeom>
          <a:solidFill>
            <a:schemeClr val="bg2">
              <a:lumMod val="90000"/>
            </a:schemeClr>
          </a:solidFill>
        </p:spPr>
        <p:txBody>
          <a:bodyPr wrap="square" rtlCol="0">
            <a:spAutoFit/>
          </a:bodyPr>
          <a:lstStyle/>
          <a:p>
            <a:r>
              <a:rPr lang="en-SG" sz="900" dirty="0"/>
              <a:t>Debrief and Note learning points after Lifting Operation</a:t>
            </a:r>
          </a:p>
        </p:txBody>
      </p:sp>
      <p:cxnSp>
        <p:nvCxnSpPr>
          <p:cNvPr id="60" name="Straight Connector 59">
            <a:extLst>
              <a:ext uri="{FF2B5EF4-FFF2-40B4-BE49-F238E27FC236}">
                <a16:creationId xmlns:a16="http://schemas.microsoft.com/office/drawing/2014/main" id="{825C6F3B-9FE7-C70D-8AC6-A7A2F6CF9A3B}"/>
              </a:ext>
            </a:extLst>
          </p:cNvPr>
          <p:cNvCxnSpPr>
            <a:cxnSpLocks/>
          </p:cNvCxnSpPr>
          <p:nvPr/>
        </p:nvCxnSpPr>
        <p:spPr>
          <a:xfrm>
            <a:off x="5093229" y="5638800"/>
            <a:ext cx="0" cy="187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11F1DF6D-741F-C984-85C7-8C4FB12953CB}"/>
              </a:ext>
            </a:extLst>
          </p:cNvPr>
          <p:cNvCxnSpPr>
            <a:cxnSpLocks/>
          </p:cNvCxnSpPr>
          <p:nvPr/>
        </p:nvCxnSpPr>
        <p:spPr>
          <a:xfrm flipH="1">
            <a:off x="1835514" y="5816550"/>
            <a:ext cx="32577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Right Brace 64">
            <a:extLst>
              <a:ext uri="{FF2B5EF4-FFF2-40B4-BE49-F238E27FC236}">
                <a16:creationId xmlns:a16="http://schemas.microsoft.com/office/drawing/2014/main" id="{25AF54A7-1EE1-753B-4271-36BE7DE31767}"/>
              </a:ext>
            </a:extLst>
          </p:cNvPr>
          <p:cNvSpPr/>
          <p:nvPr/>
        </p:nvSpPr>
        <p:spPr>
          <a:xfrm>
            <a:off x="3492756" y="5981796"/>
            <a:ext cx="351864" cy="215052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G"/>
          </a:p>
        </p:txBody>
      </p:sp>
      <p:sp>
        <p:nvSpPr>
          <p:cNvPr id="66" name="TextBox 65">
            <a:extLst>
              <a:ext uri="{FF2B5EF4-FFF2-40B4-BE49-F238E27FC236}">
                <a16:creationId xmlns:a16="http://schemas.microsoft.com/office/drawing/2014/main" id="{C9501704-049A-E781-26FE-926B7440CF2D}"/>
              </a:ext>
            </a:extLst>
          </p:cNvPr>
          <p:cNvSpPr txBox="1"/>
          <p:nvPr/>
        </p:nvSpPr>
        <p:spPr>
          <a:xfrm>
            <a:off x="4048347" y="6549228"/>
            <a:ext cx="2210501" cy="1015663"/>
          </a:xfrm>
          <a:prstGeom prst="rect">
            <a:avLst/>
          </a:prstGeom>
          <a:noFill/>
          <a:ln>
            <a:solidFill>
              <a:schemeClr val="accent1"/>
            </a:solidFill>
          </a:ln>
        </p:spPr>
        <p:txBody>
          <a:bodyPr wrap="square" rtlCol="0">
            <a:spAutoFit/>
          </a:bodyPr>
          <a:lstStyle/>
          <a:p>
            <a:pPr algn="ctr"/>
            <a:r>
              <a:rPr lang="en-SG" sz="1000" dirty="0"/>
              <a:t>If a problem is detected.</a:t>
            </a:r>
          </a:p>
          <a:p>
            <a:pPr algn="ctr"/>
            <a:r>
              <a:rPr lang="en-SG" sz="1000" u="sng" dirty="0">
                <a:solidFill>
                  <a:srgbClr val="FF0000"/>
                </a:solidFill>
              </a:rPr>
              <a:t>STOP WORK!</a:t>
            </a:r>
          </a:p>
          <a:p>
            <a:pPr algn="ctr"/>
            <a:r>
              <a:rPr lang="en-SG" sz="1000" dirty="0"/>
              <a:t>Revert back to earlier position and Review</a:t>
            </a:r>
          </a:p>
          <a:p>
            <a:pPr algn="ctr"/>
            <a:r>
              <a:rPr lang="en-SG" sz="1000" dirty="0"/>
              <a:t>Risk Assessment – Carry out Management Change if required</a:t>
            </a:r>
          </a:p>
        </p:txBody>
      </p:sp>
      <p:graphicFrame>
        <p:nvGraphicFramePr>
          <p:cNvPr id="73" name="Table 72">
            <a:extLst>
              <a:ext uri="{FF2B5EF4-FFF2-40B4-BE49-F238E27FC236}">
                <a16:creationId xmlns:a16="http://schemas.microsoft.com/office/drawing/2014/main" id="{8C951935-E0B8-08EA-A9EB-0501265A6CBA}"/>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74" name="Picture 73" descr="A close-up of a stamp&#10;&#10;AI-generated content may be incorrect.">
            <a:extLst>
              <a:ext uri="{FF2B5EF4-FFF2-40B4-BE49-F238E27FC236}">
                <a16:creationId xmlns:a16="http://schemas.microsoft.com/office/drawing/2014/main" id="{C03C1CF1-96C9-3A88-0C38-A8E3839C5D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1B0EC287-44AF-0C6A-7ED4-3BE714C0C42F}"/>
              </a:ext>
            </a:extLst>
          </p:cNvPr>
          <p:cNvSpPr>
            <a:spLocks noGrp="1"/>
          </p:cNvSpPr>
          <p:nvPr>
            <p:ph type="sldNum" sz="quarter" idx="12"/>
          </p:nvPr>
        </p:nvSpPr>
        <p:spPr/>
        <p:txBody>
          <a:bodyPr/>
          <a:lstStyle/>
          <a:p>
            <a:fld id="{F0052729-9336-4E5B-BC69-5177B8B6DD05}" type="slidenum">
              <a:rPr lang="en-SG" smtClean="0"/>
              <a:t>8</a:t>
            </a:fld>
            <a:endParaRPr lang="en-SG"/>
          </a:p>
        </p:txBody>
      </p:sp>
    </p:spTree>
    <p:extLst>
      <p:ext uri="{BB962C8B-B14F-4D97-AF65-F5344CB8AC3E}">
        <p14:creationId xmlns:p14="http://schemas.microsoft.com/office/powerpoint/2010/main" val="1654092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AFC8A-EB25-0F4A-F91E-2F0A46AF161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35B63B8-7F4D-6FDC-6F18-2A8C4D0C5892}"/>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EE82849C-B9FF-E474-3CAE-4F5E8140C6DB}"/>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3"/>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B1870B66-088B-2EE9-1011-1928F1790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5" name="TextBox 4">
            <a:extLst>
              <a:ext uri="{FF2B5EF4-FFF2-40B4-BE49-F238E27FC236}">
                <a16:creationId xmlns:a16="http://schemas.microsoft.com/office/drawing/2014/main" id="{11515F96-1267-6913-5EBC-397F89585CA3}"/>
              </a:ext>
            </a:extLst>
          </p:cNvPr>
          <p:cNvSpPr txBox="1"/>
          <p:nvPr/>
        </p:nvSpPr>
        <p:spPr>
          <a:xfrm>
            <a:off x="0" y="2889395"/>
            <a:ext cx="6787445" cy="6878806"/>
          </a:xfrm>
          <a:prstGeom prst="rect">
            <a:avLst/>
          </a:prstGeom>
          <a:noFill/>
        </p:spPr>
        <p:txBody>
          <a:bodyPr wrap="square" rtlCol="0">
            <a:spAutoFit/>
          </a:bodyPr>
          <a:lstStyle/>
          <a:p>
            <a:pPr algn="ctr"/>
            <a:r>
              <a:rPr lang="en-SG" sz="900" b="1" i="0" u="sng" strike="noStrike" baseline="0" dirty="0">
                <a:latin typeface="Arial" panose="020B0604020202020204" pitchFamily="34" charset="0"/>
              </a:rPr>
              <a:t>11.0 Competent Person(s) </a:t>
            </a:r>
          </a:p>
          <a:p>
            <a:endParaRPr lang="en-SG" sz="900" b="0" i="0" u="none" strike="noStrike" baseline="0" dirty="0">
              <a:latin typeface="Arial" panose="020B0604020202020204" pitchFamily="34" charset="0"/>
            </a:endParaRPr>
          </a:p>
          <a:p>
            <a:r>
              <a:rPr lang="en-US" sz="900" b="0" i="0" u="none" strike="noStrike" baseline="0" dirty="0">
                <a:latin typeface="Arial" panose="020B0604020202020204" pitchFamily="34" charset="0"/>
              </a:rPr>
              <a:t>11.1 Persons who have been appointed or been given the responsibility for planning lifting operations should have sufficient technical, practical and theoretical training, knowledge and experience of the work they are likely to safely plan /assess the lift. </a:t>
            </a:r>
          </a:p>
          <a:p>
            <a:endParaRPr lang="en-SG" sz="900" b="0" i="0" u="none" strike="noStrike" baseline="0" dirty="0">
              <a:latin typeface="Arial" panose="020B0604020202020204" pitchFamily="34" charset="0"/>
            </a:endParaRPr>
          </a:p>
          <a:p>
            <a:r>
              <a:rPr lang="en-SG" sz="900" b="0" i="0" u="none" strike="noStrike" baseline="0" dirty="0">
                <a:latin typeface="Arial" panose="020B0604020202020204" pitchFamily="34" charset="0"/>
              </a:rPr>
              <a:t>They shall: </a:t>
            </a:r>
          </a:p>
          <a:p>
            <a:endParaRPr lang="en-SG" sz="900" b="0" i="0" u="none" strike="noStrike" baseline="0" dirty="0">
              <a:latin typeface="Arial" panose="020B0604020202020204" pitchFamily="34" charset="0"/>
            </a:endParaRPr>
          </a:p>
          <a:p>
            <a:pPr marL="171450" indent="-171450">
              <a:buFont typeface="Arial" panose="020B0604020202020204" pitchFamily="34" charset="0"/>
              <a:buChar char="•"/>
            </a:pPr>
            <a:r>
              <a:rPr lang="en-US" sz="900" b="0" i="0" u="none" strike="noStrike" baseline="0" dirty="0">
                <a:latin typeface="Arial" panose="020B0604020202020204" pitchFamily="34" charset="0"/>
              </a:rPr>
              <a:t>Be capable of identifying the hazards and risks associated to lifting operations within their area of work or the environment where the lifting operation will take place. </a:t>
            </a:r>
          </a:p>
          <a:p>
            <a:pPr marL="171450" indent="-171450">
              <a:buFont typeface="Arial" panose="020B0604020202020204" pitchFamily="34" charset="0"/>
              <a:buChar char="•"/>
            </a:pPr>
            <a:r>
              <a:rPr lang="en-US" sz="900" b="0" i="0" u="none" strike="noStrike" baseline="0" dirty="0">
                <a:latin typeface="Arial" panose="020B0604020202020204" pitchFamily="34" charset="0"/>
              </a:rPr>
              <a:t>Be able to select the correct lifting equipment for the work. Understand the characteristics of the lifting equipment they are selecting and the nature of the work it will be carrying out. </a:t>
            </a:r>
          </a:p>
          <a:p>
            <a:pPr marL="171450" indent="-171450">
              <a:buFont typeface="Arial" panose="020B0604020202020204" pitchFamily="34" charset="0"/>
              <a:buChar char="•"/>
            </a:pPr>
            <a:r>
              <a:rPr lang="en-US" sz="900" b="0" i="0" u="none" strike="noStrike" baseline="0" dirty="0">
                <a:latin typeface="Arial" panose="020B0604020202020204" pitchFamily="34" charset="0"/>
              </a:rPr>
              <a:t>Carry out and document risk assessments (lifting operation) or site surveys; have the ability to communicate their findings to those involved in and affected by the lifting operations. </a:t>
            </a:r>
          </a:p>
          <a:p>
            <a:pPr marL="171450" indent="-171450">
              <a:buFont typeface="Arial" panose="020B0604020202020204" pitchFamily="34" charset="0"/>
              <a:buChar char="•"/>
            </a:pPr>
            <a:r>
              <a:rPr lang="en-US" sz="900" b="0" i="0" u="none" strike="noStrike" baseline="0" dirty="0">
                <a:latin typeface="Arial" panose="020B0604020202020204" pitchFamily="34" charset="0"/>
              </a:rPr>
              <a:t>Be able to create method statements or lifting plans and implement safe systems of work for lifting operations. </a:t>
            </a:r>
          </a:p>
          <a:p>
            <a:pPr marL="171450" indent="-171450">
              <a:buFont typeface="Arial" panose="020B0604020202020204" pitchFamily="34" charset="0"/>
              <a:buChar char="•"/>
            </a:pPr>
            <a:r>
              <a:rPr lang="en-US" sz="900" b="0" i="0" u="none" strike="noStrike" baseline="0" dirty="0">
                <a:latin typeface="Arial" panose="020B0604020202020204" pitchFamily="34" charset="0"/>
              </a:rPr>
              <a:t>Where appropriate seek additional support and expertise including the use of external specialists to assist them with the planning of lifting operations. • Have sufficient technical, practical and theoretical training, knowledge and experience of the work being carried out. </a:t>
            </a:r>
          </a:p>
          <a:p>
            <a:pPr marL="171450" indent="-171450">
              <a:buFont typeface="Arial" panose="020B0604020202020204" pitchFamily="34" charset="0"/>
              <a:buChar char="•"/>
            </a:pPr>
            <a:r>
              <a:rPr lang="en-US" sz="900" b="0" i="0" u="none" strike="noStrike" baseline="0" dirty="0">
                <a:latin typeface="Arial" panose="020B0604020202020204" pitchFamily="34" charset="0"/>
              </a:rPr>
              <a:t>Be briefed and instructed on the outcomes of the risk assessment and fully understand the requirements of the safe system of work or lifting plan for the lifting operation to be carried out and an understanding of al those involved in the task. </a:t>
            </a:r>
          </a:p>
          <a:p>
            <a:pPr marL="171450" indent="-171450">
              <a:buFont typeface="Arial" panose="020B0604020202020204" pitchFamily="34" charset="0"/>
              <a:buChar char="•"/>
            </a:pPr>
            <a:r>
              <a:rPr lang="en-US" sz="900" b="0" i="0" u="none" strike="noStrike" baseline="0" dirty="0">
                <a:latin typeface="Arial" panose="020B0604020202020204" pitchFamily="34" charset="0"/>
              </a:rPr>
              <a:t>Supervise all complex or unusual lifting operations. </a:t>
            </a:r>
          </a:p>
          <a:p>
            <a:pPr marL="171450" indent="-171450">
              <a:buFont typeface="Arial" panose="020B0604020202020204" pitchFamily="34" charset="0"/>
              <a:buChar char="•"/>
            </a:pPr>
            <a:r>
              <a:rPr lang="en-US" sz="900" b="0" i="0" u="none" strike="noStrike" baseline="0" dirty="0">
                <a:latin typeface="Arial" panose="020B0604020202020204" pitchFamily="34" charset="0"/>
              </a:rPr>
              <a:t>Monitor a sufficient number of lifting operations to ensure correct working practices are being followed. </a:t>
            </a:r>
          </a:p>
          <a:p>
            <a:pPr marL="171450" indent="-171450">
              <a:buFont typeface="Arial" panose="020B0604020202020204" pitchFamily="34" charset="0"/>
              <a:buChar char="•"/>
            </a:pPr>
            <a:r>
              <a:rPr lang="en-US" sz="900" b="0" i="0" u="none" strike="noStrike" baseline="0" dirty="0">
                <a:latin typeface="Arial" panose="020B0604020202020204" pitchFamily="34" charset="0"/>
              </a:rPr>
              <a:t>Where appropriate direct lifting operations, offering clear instructions to those involved. </a:t>
            </a:r>
          </a:p>
          <a:p>
            <a:pPr algn="ctr"/>
            <a:endParaRPr lang="en-SG" sz="900" b="0" i="0" u="none" strike="noStrike" baseline="0" dirty="0">
              <a:latin typeface="Arial" panose="020B0604020202020204" pitchFamily="34" charset="0"/>
            </a:endParaRPr>
          </a:p>
          <a:p>
            <a:pPr algn="ctr"/>
            <a:r>
              <a:rPr lang="en-SG" sz="900" b="1" i="0" u="sng" strike="noStrike" baseline="0" dirty="0">
                <a:latin typeface="Arial" panose="020B0604020202020204" pitchFamily="34" charset="0"/>
              </a:rPr>
              <a:t>12.0 Supervisors </a:t>
            </a:r>
          </a:p>
          <a:p>
            <a:endParaRPr lang="en-SG" sz="900" b="0" i="0" u="none" strike="noStrike" baseline="0" dirty="0">
              <a:latin typeface="Arial" panose="020B0604020202020204" pitchFamily="34" charset="0"/>
            </a:endParaRPr>
          </a:p>
          <a:p>
            <a:r>
              <a:rPr lang="en-US" sz="900" b="0" i="0" u="none" strike="noStrike" baseline="0" dirty="0">
                <a:latin typeface="Arial" panose="020B0604020202020204" pitchFamily="34" charset="0"/>
              </a:rPr>
              <a:t>12.1 The appropriate supervision of lifting operations should be proportionate to the level of risk and take into account those involved in a particular lifting operation. Levels of supervision will be determined by the nature or complexity of the work and the competence of those involved in using lifting equipment and assisting with the lifting operation. </a:t>
            </a:r>
          </a:p>
          <a:p>
            <a:pPr algn="l"/>
            <a:endParaRPr lang="en-US" sz="900" dirty="0">
              <a:latin typeface="Arial" panose="020B0604020202020204" pitchFamily="34" charset="0"/>
            </a:endParaRPr>
          </a:p>
          <a:p>
            <a:pPr algn="l"/>
            <a:r>
              <a:rPr lang="en-US" sz="900" b="0" i="0" u="none" strike="noStrike" baseline="0" dirty="0">
                <a:latin typeface="Arial" panose="020B0604020202020204" pitchFamily="34" charset="0"/>
              </a:rPr>
              <a:t>Persons who have been </a:t>
            </a:r>
            <a:r>
              <a:rPr lang="en-US" sz="900" b="0" i="0" u="none" strike="noStrike" baseline="0" dirty="0" err="1">
                <a:latin typeface="Arial" panose="020B0604020202020204" pitchFamily="34" charset="0"/>
              </a:rPr>
              <a:t>authorised</a:t>
            </a:r>
            <a:r>
              <a:rPr lang="en-US" sz="900" b="0" i="0" u="none" strike="noStrike" baseline="0" dirty="0">
                <a:latin typeface="Arial" panose="020B0604020202020204" pitchFamily="34" charset="0"/>
              </a:rPr>
              <a:t> to supervise lifting operations shall:</a:t>
            </a:r>
          </a:p>
          <a:p>
            <a:pPr algn="l"/>
            <a:r>
              <a:rPr lang="en-US" sz="900" b="0" i="0" u="none" strike="noStrike" baseline="0" dirty="0">
                <a:latin typeface="Arial" panose="020B0604020202020204" pitchFamily="34" charset="0"/>
              </a:rPr>
              <a:t>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rPr>
              <a:t>Have sufficient technical, practical and theoretical training, knowledge and experience of the work being carried out.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rPr>
              <a:t>Be briefed and instructed on the outcomes of the risk assessment and fully understand the requirements of the safe system of work or lifting plan for the lifting operation to be carried out and an understanding of al those involved in the task.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rPr>
              <a:t>Supervise all complex or unusual lifting operations.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rPr>
              <a:t>Monitor a sufficient number of lifting operations to ensure correct working practices are being followed.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rPr>
              <a:t>Where appropriate direct lifting operations, offering clear instructions to those involved.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cs typeface="Arial" panose="020B0604020202020204" pitchFamily="34" charset="0"/>
              </a:rPr>
              <a:t>The overall dimensions (length, width and depth).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cs typeface="Arial" panose="020B0604020202020204" pitchFamily="34" charset="0"/>
              </a:rPr>
              <a:t>Indication of the position of </a:t>
            </a:r>
            <a:r>
              <a:rPr lang="en-US" sz="900" b="0" i="0" u="none" strike="noStrike" baseline="0" dirty="0" err="1">
                <a:solidFill>
                  <a:srgbClr val="000000"/>
                </a:solidFill>
                <a:latin typeface="Arial" panose="020B0604020202020204" pitchFamily="34" charset="0"/>
                <a:cs typeface="Arial" panose="020B0604020202020204" pitchFamily="34" charset="0"/>
              </a:rPr>
              <a:t>centre</a:t>
            </a:r>
            <a:r>
              <a:rPr lang="en-US" sz="900" b="0" i="0" u="none" strike="noStrike" baseline="0" dirty="0">
                <a:solidFill>
                  <a:srgbClr val="000000"/>
                </a:solidFill>
                <a:latin typeface="Arial" panose="020B0604020202020204" pitchFamily="34" charset="0"/>
                <a:cs typeface="Arial" panose="020B0604020202020204" pitchFamily="34" charset="0"/>
              </a:rPr>
              <a:t> of gravity.</a:t>
            </a:r>
          </a:p>
          <a:p>
            <a:pPr marL="171450" indent="-171450">
              <a:buFont typeface="Arial" panose="020B0604020202020204" pitchFamily="34" charset="0"/>
              <a:buChar char="•"/>
            </a:pPr>
            <a:r>
              <a:rPr lang="en-SG" sz="900" b="0" i="0" u="none" strike="noStrike" baseline="0" dirty="0">
                <a:solidFill>
                  <a:srgbClr val="000000"/>
                </a:solidFill>
                <a:latin typeface="Arial" panose="020B0604020202020204" pitchFamily="34" charset="0"/>
                <a:cs typeface="Arial" panose="020B0604020202020204" pitchFamily="34" charset="0"/>
              </a:rPr>
              <a:t>The lifting/slinging points </a:t>
            </a:r>
          </a:p>
          <a:p>
            <a:pPr marL="171450" indent="-171450">
              <a:buFont typeface="Arial" panose="020B0604020202020204" pitchFamily="34" charset="0"/>
              <a:buChar char="•"/>
            </a:pPr>
            <a:r>
              <a:rPr lang="en-SG" sz="900" b="0" i="0" u="none" strike="noStrike" baseline="0" dirty="0">
                <a:solidFill>
                  <a:srgbClr val="000000"/>
                </a:solidFill>
                <a:latin typeface="Arial" panose="020B0604020202020204" pitchFamily="34" charset="0"/>
                <a:cs typeface="Arial" panose="020B0604020202020204" pitchFamily="34" charset="0"/>
              </a:rPr>
              <a:t>The pickup radius </a:t>
            </a:r>
          </a:p>
          <a:p>
            <a:pPr marL="171450" indent="-171450">
              <a:buFont typeface="Arial" panose="020B0604020202020204" pitchFamily="34" charset="0"/>
              <a:buChar char="•"/>
            </a:pPr>
            <a:r>
              <a:rPr lang="en-SG" sz="900" b="0" i="0" u="none" strike="noStrike" baseline="0" dirty="0">
                <a:solidFill>
                  <a:srgbClr val="000000"/>
                </a:solidFill>
                <a:latin typeface="Arial" panose="020B0604020202020204" pitchFamily="34" charset="0"/>
                <a:cs typeface="Arial" panose="020B0604020202020204" pitchFamily="34" charset="0"/>
              </a:rPr>
              <a:t>The final location radius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cs typeface="Arial" panose="020B0604020202020204" pitchFamily="34" charset="0"/>
              </a:rPr>
              <a:t>The height to which the load has to be lifted. </a:t>
            </a:r>
          </a:p>
          <a:p>
            <a:pPr marL="171450" indent="-171450">
              <a:buFont typeface="Arial" panose="020B0604020202020204" pitchFamily="34" charset="0"/>
              <a:buChar char="•"/>
            </a:pPr>
            <a:r>
              <a:rPr lang="en-US" sz="900" b="0" i="0" u="none" strike="noStrike" baseline="0" dirty="0">
                <a:solidFill>
                  <a:srgbClr val="000000"/>
                </a:solidFill>
                <a:latin typeface="Arial" panose="020B0604020202020204" pitchFamily="34" charset="0"/>
                <a:cs typeface="Arial" panose="020B0604020202020204" pitchFamily="34" charset="0"/>
              </a:rPr>
              <a:t>The overall weight (load + all lifting accessories) </a:t>
            </a:r>
          </a:p>
          <a:p>
            <a:pPr marL="171450" indent="-171450">
              <a:buFont typeface="Arial" panose="020B0604020202020204" pitchFamily="34" charset="0"/>
              <a:buChar char="•"/>
            </a:pPr>
            <a:r>
              <a:rPr lang="en-US" sz="900" dirty="0">
                <a:latin typeface="Arial" panose="020B0604020202020204" pitchFamily="34" charset="0"/>
                <a:cs typeface="Arial" panose="020B0604020202020204" pitchFamily="34" charset="0"/>
              </a:rPr>
              <a:t>Be able to assess changes in circumstances e.g. ground conditions, and where appropriate stop a lifting operation if the risk is unacceptable or if it is considered unsafe to carry on. Referring the concerns to their manager, competent person or person responsible for planning lifting operations </a:t>
            </a:r>
            <a:endParaRPr lang="en-US" sz="900" b="0" i="0" u="none" strike="noStrike" baseline="0" dirty="0">
              <a:solidFill>
                <a:srgbClr val="000000"/>
              </a:solidFill>
              <a:latin typeface="Arial" panose="020B0604020202020204" pitchFamily="34" charset="0"/>
              <a:cs typeface="Arial" panose="020B0604020202020204" pitchFamily="34" charset="0"/>
            </a:endParaRPr>
          </a:p>
          <a:p>
            <a:endParaRPr lang="en-US" sz="900" b="0" i="0" u="none" strike="noStrike" baseline="0" dirty="0">
              <a:solidFill>
                <a:srgbClr val="000000"/>
              </a:solidFill>
            </a:endParaRPr>
          </a:p>
          <a:p>
            <a:endParaRPr lang="en-SG" sz="900" dirty="0"/>
          </a:p>
        </p:txBody>
      </p:sp>
      <p:graphicFrame>
        <p:nvGraphicFramePr>
          <p:cNvPr id="7" name="Table 6">
            <a:extLst>
              <a:ext uri="{FF2B5EF4-FFF2-40B4-BE49-F238E27FC236}">
                <a16:creationId xmlns:a16="http://schemas.microsoft.com/office/drawing/2014/main" id="{53ADC8F2-8D6A-CE20-E1F6-2F0A9414254E}"/>
              </a:ext>
            </a:extLst>
          </p:cNvPr>
          <p:cNvGraphicFramePr>
            <a:graphicFrameLocks noGrp="1"/>
          </p:cNvGraphicFramePr>
          <p:nvPr>
            <p:extLst>
              <p:ext uri="{D42A27DB-BD31-4B8C-83A1-F6EECF244321}">
                <p14:modId xmlns:p14="http://schemas.microsoft.com/office/powerpoint/2010/main" val="2708226032"/>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9" name="Picture 8" descr="A close-up of a stamp&#10;&#10;AI-generated content may be incorrect.">
            <a:extLst>
              <a:ext uri="{FF2B5EF4-FFF2-40B4-BE49-F238E27FC236}">
                <a16:creationId xmlns:a16="http://schemas.microsoft.com/office/drawing/2014/main" id="{12E6AD32-4FA5-3AFF-0038-BC9F1FBF0E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18851AC8-650E-0A3D-B723-1ADD55E71B61}"/>
              </a:ext>
            </a:extLst>
          </p:cNvPr>
          <p:cNvSpPr>
            <a:spLocks noGrp="1"/>
          </p:cNvSpPr>
          <p:nvPr>
            <p:ph type="sldNum" sz="quarter" idx="12"/>
          </p:nvPr>
        </p:nvSpPr>
        <p:spPr/>
        <p:txBody>
          <a:bodyPr/>
          <a:lstStyle/>
          <a:p>
            <a:fld id="{F0052729-9336-4E5B-BC69-5177B8B6DD05}" type="slidenum">
              <a:rPr lang="en-SG" smtClean="0"/>
              <a:t>9</a:t>
            </a:fld>
            <a:endParaRPr lang="en-SG"/>
          </a:p>
        </p:txBody>
      </p:sp>
    </p:spTree>
    <p:extLst>
      <p:ext uri="{BB962C8B-B14F-4D97-AF65-F5344CB8AC3E}">
        <p14:creationId xmlns:p14="http://schemas.microsoft.com/office/powerpoint/2010/main" val="227388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A1AE-804B-687F-4E23-F64BB699D60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17B4A444-28EC-C94D-D104-2644F690CDF5}"/>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7E88BA13-D12F-AA6F-8FF0-64537246EBBF}"/>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3"/>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71E9EE2D-010D-E472-3CAA-4EC4D65058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sp>
        <p:nvSpPr>
          <p:cNvPr id="5" name="TextBox 4">
            <a:extLst>
              <a:ext uri="{FF2B5EF4-FFF2-40B4-BE49-F238E27FC236}">
                <a16:creationId xmlns:a16="http://schemas.microsoft.com/office/drawing/2014/main" id="{1F6D6D64-CF0A-D3C6-7AD3-C1A3C4F4CB3D}"/>
              </a:ext>
            </a:extLst>
          </p:cNvPr>
          <p:cNvSpPr txBox="1"/>
          <p:nvPr/>
        </p:nvSpPr>
        <p:spPr>
          <a:xfrm>
            <a:off x="0" y="2774384"/>
            <a:ext cx="6787445" cy="7155805"/>
          </a:xfrm>
          <a:prstGeom prst="rect">
            <a:avLst/>
          </a:prstGeom>
          <a:noFill/>
        </p:spPr>
        <p:txBody>
          <a:bodyPr wrap="square" rtlCol="0">
            <a:spAutoFit/>
          </a:bodyPr>
          <a:lstStyle/>
          <a:p>
            <a:pPr algn="ctr"/>
            <a:r>
              <a:rPr lang="en-US" sz="900" b="1" u="sng" dirty="0">
                <a:latin typeface="Arial" panose="020B0604020202020204" pitchFamily="34" charset="0"/>
                <a:cs typeface="Arial" panose="020B0604020202020204" pitchFamily="34" charset="0"/>
              </a:rPr>
              <a:t>13.0 Operators /Riggers /Signalmen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They shall: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Not attempt any lifting operation or use lifting equipment, without prior training/assessment, guidance and appropriate supervision or which is beyond the level of their competency.</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Ensure that both routine and complex lifting operations are not undertaken without a suitable and sufficient risk assessment being carried out by a competent person. •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Ensure they are fully understand the lifting equipment, be familiar with how it operates and the proposed lifting operation(s) they have been </a:t>
            </a:r>
            <a:r>
              <a:rPr lang="en-US" sz="900" dirty="0" err="1">
                <a:latin typeface="Arial" panose="020B0604020202020204" pitchFamily="34" charset="0"/>
                <a:cs typeface="Arial" panose="020B0604020202020204" pitchFamily="34" charset="0"/>
              </a:rPr>
              <a:t>authorised</a:t>
            </a:r>
            <a:r>
              <a:rPr lang="en-US" sz="900" dirty="0">
                <a:latin typeface="Arial" panose="020B0604020202020204" pitchFamily="34" charset="0"/>
                <a:cs typeface="Arial" panose="020B0604020202020204" pitchFamily="34" charset="0"/>
              </a:rPr>
              <a:t> to do and that safe systems of work, training, guidance and advice are followed at all times. •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Carry out pre-use checks of lifting equipment prior to use, to ensure there are no obvious visual defects. •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Remove faulty or defective equipment from use, clearly record fault or defect on the appropriate documents and report the issue to their manager or person in charge as soon as is reasonably practicable. This includes reporting concerns they may have regarding a lift operation to their supervisor or manager in the first instance and not continuing with the operation. •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Have an understanding of the emergency procedures relating to lifting equipment in use and take part in training and periodic drills, where appropriate. </a:t>
            </a:r>
          </a:p>
          <a:p>
            <a:pPr algn="ctr"/>
            <a:endParaRPr lang="en-US" sz="900" b="1" u="sng" dirty="0">
              <a:latin typeface="Arial" panose="020B0604020202020204" pitchFamily="34" charset="0"/>
              <a:cs typeface="Arial" panose="020B0604020202020204" pitchFamily="34" charset="0"/>
            </a:endParaRPr>
          </a:p>
          <a:p>
            <a:pPr algn="ctr"/>
            <a:r>
              <a:rPr lang="en-US" sz="900" b="1" u="sng" dirty="0">
                <a:latin typeface="Arial" panose="020B0604020202020204" pitchFamily="34" charset="0"/>
                <a:cs typeface="Arial" panose="020B0604020202020204" pitchFamily="34" charset="0"/>
              </a:rPr>
              <a:t>14.0 Description of Load(s) to be lifted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14.1 Sufficient information must be provided to give a clear, but brief, description that will clearly identify the lift(s) to be undertaken. A separate risk assessment form will need to be completed for every time the crane is moved to a new position, unless the risk assessment has taken into account the hazards associated with all positions.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14.2 Details of Load(s) to be lifted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14.3 To gather the load/loads to be lifted. The customer or client requiring the lift must provide the Competent Person with full details of all loads to be lifted. Details of each load to be lifted must be entered on the risk assessment form. The Competent Person must carefully consider all the loads to be lifted and ensure that sufficient information is provided and recorded to enable other persons to see how the lifts are to be performed in a safe manner.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14.4 Load Crucial Information. No load must be lifted without the following crucial information: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 The load weights</a:t>
            </a:r>
          </a:p>
          <a:p>
            <a:endParaRPr lang="en-US" sz="900" dirty="0">
              <a:latin typeface="Arial" panose="020B0604020202020204" pitchFamily="34" charset="0"/>
              <a:cs typeface="Arial" panose="020B0604020202020204" pitchFamily="34" charset="0"/>
            </a:endParaRPr>
          </a:p>
          <a:p>
            <a:r>
              <a:rPr lang="en-US" sz="900" b="0" i="0" u="none" strike="noStrike" baseline="0" dirty="0">
                <a:solidFill>
                  <a:srgbClr val="000000"/>
                </a:solidFill>
                <a:latin typeface="Arial" panose="020B0604020202020204" pitchFamily="34" charset="0"/>
              </a:rPr>
              <a:t>14.5 Load(s) Weight(s) Including Lifting Gear </a:t>
            </a:r>
          </a:p>
          <a:p>
            <a:endParaRPr lang="en-US" sz="900" b="0" i="0" u="none" strike="noStrike" baseline="0" dirty="0">
              <a:solidFill>
                <a:srgbClr val="000000"/>
              </a:solidFill>
              <a:latin typeface="Arial" panose="020B0604020202020204" pitchFamily="34" charset="0"/>
            </a:endParaRPr>
          </a:p>
          <a:p>
            <a:r>
              <a:rPr lang="en-US" sz="900" b="0" i="0" u="none" strike="noStrike" baseline="0" dirty="0">
                <a:solidFill>
                  <a:srgbClr val="000000"/>
                </a:solidFill>
                <a:latin typeface="Arial" panose="020B0604020202020204" pitchFamily="34" charset="0"/>
              </a:rPr>
              <a:t>14.6 To ensure the weight of the load and information should be given at the earliest point in the planning stage, so that from this information, your crane selection will be made and all the planning around it. The weight of the load must be accurate. </a:t>
            </a:r>
          </a:p>
          <a:p>
            <a:endParaRPr lang="en-US" sz="900" b="0" i="0" u="none" strike="noStrike" baseline="0" dirty="0">
              <a:solidFill>
                <a:srgbClr val="000000"/>
              </a:solidFill>
              <a:latin typeface="Arial" panose="020B0604020202020204" pitchFamily="34" charset="0"/>
            </a:endParaRPr>
          </a:p>
          <a:p>
            <a:r>
              <a:rPr lang="en-US" sz="900" b="0" i="0" u="none" strike="noStrike" baseline="0" dirty="0">
                <a:solidFill>
                  <a:srgbClr val="000000"/>
                </a:solidFill>
                <a:latin typeface="Arial" panose="020B0604020202020204" pitchFamily="34" charset="0"/>
              </a:rPr>
              <a:t>14.7 The load dimensions shall be recorded, this will also help in the planning of the lift, particularly to establish boom clearance, calculate required clearances when in restricted and confined areas, it also allows calculation to be completed on wind sail area giving a maximum wind speed that crane can operate in. </a:t>
            </a:r>
          </a:p>
          <a:p>
            <a:endParaRPr lang="en-US" sz="900" b="0" i="0" u="none" strike="noStrike" baseline="0" dirty="0">
              <a:solidFill>
                <a:srgbClr val="000000"/>
              </a:solidFill>
              <a:latin typeface="Arial" panose="020B0604020202020204" pitchFamily="34" charset="0"/>
            </a:endParaRPr>
          </a:p>
          <a:p>
            <a:endParaRPr lang="en-US" sz="900" b="0" i="0" u="none" strike="noStrike" baseline="0" dirty="0">
              <a:solidFill>
                <a:srgbClr val="000000"/>
              </a:solidFill>
              <a:latin typeface="Arial" panose="020B0604020202020204" pitchFamily="34" charset="0"/>
            </a:endParaRPr>
          </a:p>
          <a:p>
            <a:endParaRPr lang="en-US" sz="900" b="0" i="0" u="none" strike="noStrike" baseline="0" dirty="0">
              <a:solidFill>
                <a:srgbClr val="000000"/>
              </a:solidFill>
              <a:latin typeface="Arial" panose="020B0604020202020204" pitchFamily="34" charset="0"/>
              <a:cs typeface="Arial" panose="020B0604020202020204" pitchFamily="34" charset="0"/>
            </a:endParaRPr>
          </a:p>
          <a:p>
            <a:endParaRPr lang="en-SG" sz="900"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3442CD3E-9D89-D18A-6579-74CA9D3C0527}"/>
              </a:ext>
            </a:extLst>
          </p:cNvPr>
          <p:cNvGraphicFramePr>
            <a:graphicFrameLocks noGrp="1"/>
          </p:cNvGraphicFramePr>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9" name="Picture 8" descr="A close-up of a stamp&#10;&#10;AI-generated content may be incorrect.">
            <a:extLst>
              <a:ext uri="{FF2B5EF4-FFF2-40B4-BE49-F238E27FC236}">
                <a16:creationId xmlns:a16="http://schemas.microsoft.com/office/drawing/2014/main" id="{B3C5919B-B7D7-641D-0BED-54DDF8B749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3" name="Slide Number Placeholder 2">
            <a:extLst>
              <a:ext uri="{FF2B5EF4-FFF2-40B4-BE49-F238E27FC236}">
                <a16:creationId xmlns:a16="http://schemas.microsoft.com/office/drawing/2014/main" id="{9666634C-26CD-B2DC-B4FB-77BB29484004}"/>
              </a:ext>
            </a:extLst>
          </p:cNvPr>
          <p:cNvSpPr>
            <a:spLocks noGrp="1"/>
          </p:cNvSpPr>
          <p:nvPr>
            <p:ph type="sldNum" sz="quarter" idx="12"/>
          </p:nvPr>
        </p:nvSpPr>
        <p:spPr/>
        <p:txBody>
          <a:bodyPr/>
          <a:lstStyle/>
          <a:p>
            <a:fld id="{F0052729-9336-4E5B-BC69-5177B8B6DD05}" type="slidenum">
              <a:rPr lang="en-SG" smtClean="0"/>
              <a:t>10</a:t>
            </a:fld>
            <a:endParaRPr lang="en-SG"/>
          </a:p>
        </p:txBody>
      </p:sp>
    </p:spTree>
    <p:extLst>
      <p:ext uri="{BB962C8B-B14F-4D97-AF65-F5344CB8AC3E}">
        <p14:creationId xmlns:p14="http://schemas.microsoft.com/office/powerpoint/2010/main" val="258580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F7DC-6FD4-0AA4-7C54-16B4F78FBCE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D16C9B0-2542-9A28-82B8-866D0D93EE5F}"/>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D5B6B4F6-356F-A640-3FAB-B49E29EC488E}"/>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9346CDCA-8820-CE2F-5E8A-11F453F2D5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graphicFrame>
        <p:nvGraphicFramePr>
          <p:cNvPr id="9" name="Table 8">
            <a:extLst>
              <a:ext uri="{FF2B5EF4-FFF2-40B4-BE49-F238E27FC236}">
                <a16:creationId xmlns:a16="http://schemas.microsoft.com/office/drawing/2014/main" id="{E0F30AE8-4374-8A56-9D42-CCAE73D9B0BC}"/>
              </a:ext>
            </a:extLst>
          </p:cNvPr>
          <p:cNvGraphicFramePr>
            <a:graphicFrameLocks noGrp="1"/>
          </p:cNvGraphicFramePr>
          <p:nvPr>
            <p:extLst>
              <p:ext uri="{D42A27DB-BD31-4B8C-83A1-F6EECF244321}">
                <p14:modId xmlns:p14="http://schemas.microsoft.com/office/powerpoint/2010/main" val="758747526"/>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8EA56A91-8CA5-70D1-6973-688545D632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12" name="TextBox 11">
            <a:extLst>
              <a:ext uri="{FF2B5EF4-FFF2-40B4-BE49-F238E27FC236}">
                <a16:creationId xmlns:a16="http://schemas.microsoft.com/office/drawing/2014/main" id="{0C38E1C1-2BCB-81D0-ADC9-E2741303EFD2}"/>
              </a:ext>
            </a:extLst>
          </p:cNvPr>
          <p:cNvSpPr txBox="1"/>
          <p:nvPr/>
        </p:nvSpPr>
        <p:spPr>
          <a:xfrm>
            <a:off x="33866" y="2888827"/>
            <a:ext cx="6790267" cy="7017306"/>
          </a:xfrm>
          <a:prstGeom prst="rect">
            <a:avLst/>
          </a:prstGeom>
          <a:noFill/>
        </p:spPr>
        <p:txBody>
          <a:bodyPr wrap="square" rtlCol="0">
            <a:spAutoFit/>
          </a:bodyPr>
          <a:lstStyle/>
          <a:p>
            <a:r>
              <a:rPr lang="en-US" sz="1000" b="0" i="0" u="none" strike="noStrike" baseline="0" dirty="0">
                <a:solidFill>
                  <a:srgbClr val="000000"/>
                </a:solidFill>
                <a:latin typeface="Arial" panose="020B0604020202020204" pitchFamily="34" charset="0"/>
              </a:rPr>
              <a:t>14.8 The weight of the load must include every piece of lifting gear involved in the lift from the hook block downwards, ropes, beams, shackles, frames, slings etc.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14.9 Every load lifted should in the first instance be lifted slowly from the ground, should it start to exceed the given weight it must be placed back on the ground and the Responsible Person/ Competent/ Person must then take whatever actions are required to re-plan the lifting operation. </a:t>
            </a:r>
          </a:p>
          <a:p>
            <a:pPr algn="ctr"/>
            <a:endParaRPr lang="en-US" sz="1000" b="0" i="0" u="sng" strike="noStrike" baseline="0" dirty="0">
              <a:solidFill>
                <a:srgbClr val="000000"/>
              </a:solidFill>
              <a:latin typeface="Arial" panose="020B0604020202020204" pitchFamily="34" charset="0"/>
            </a:endParaRPr>
          </a:p>
          <a:p>
            <a:pPr algn="ctr"/>
            <a:r>
              <a:rPr lang="en-US" sz="1000" b="1" i="0" u="sng" strike="noStrike" baseline="0" dirty="0">
                <a:solidFill>
                  <a:srgbClr val="000000"/>
                </a:solidFill>
                <a:latin typeface="Arial" panose="020B0604020202020204" pitchFamily="34" charset="0"/>
              </a:rPr>
              <a:t>15.10 Centre of Gravity (CG) of the load </a:t>
            </a:r>
          </a:p>
          <a:p>
            <a:pPr algn="ctr"/>
            <a:endParaRPr lang="en-US" sz="1000" b="0" i="0" u="sng"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15.1 To ensure that every lifting operation is under control and free of unplanned movement, the CG must be known. In simple lifting terms with balanced loads the CG is generally in the middle, this point will always be directly below the </a:t>
            </a:r>
            <a:r>
              <a:rPr lang="en-US" sz="1000" b="0" i="0" u="none" strike="noStrike" baseline="0" dirty="0" err="1">
                <a:solidFill>
                  <a:srgbClr val="000000"/>
                </a:solidFill>
                <a:latin typeface="Arial" panose="020B0604020202020204" pitchFamily="34" charset="0"/>
              </a:rPr>
              <a:t>centre</a:t>
            </a:r>
            <a:r>
              <a:rPr lang="en-US" sz="1000" b="0" i="0" u="none" strike="noStrike" baseline="0" dirty="0">
                <a:solidFill>
                  <a:srgbClr val="000000"/>
                </a:solidFill>
                <a:latin typeface="Arial" panose="020B0604020202020204" pitchFamily="34" charset="0"/>
              </a:rPr>
              <a:t> line of the crane hook block when slung. </a:t>
            </a:r>
          </a:p>
          <a:p>
            <a:pPr algn="ctr"/>
            <a:r>
              <a:rPr lang="en-SG" sz="1000" b="1" i="0" u="sng" strike="noStrike" baseline="0" dirty="0">
                <a:solidFill>
                  <a:srgbClr val="000000"/>
                </a:solidFill>
                <a:latin typeface="Arial" panose="020B0604020202020204" pitchFamily="34" charset="0"/>
              </a:rPr>
              <a:t>16.0 Crane Selection </a:t>
            </a:r>
          </a:p>
          <a:p>
            <a:pPr algn="ctr"/>
            <a:endParaRPr lang="en-SG" sz="1000" b="0" i="0" u="sng"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16.1 Using the previously gathered information in conjunction with crane manufactures duty charts it will allow the selection of a crane that is suitable with sufficient capacity to safely execute the lifting operation.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16.2 Details of the Crane </a:t>
            </a:r>
          </a:p>
          <a:p>
            <a:r>
              <a:rPr lang="en-US" sz="1000" b="0" i="0" u="none" strike="noStrike" baseline="0" dirty="0">
                <a:solidFill>
                  <a:srgbClr val="000000"/>
                </a:solidFill>
                <a:latin typeface="Arial" panose="020B0604020202020204" pitchFamily="34" charset="0"/>
              </a:rPr>
              <a:t>Details of the preferred crane(s) to be used must be recorded within the Method Statement and must include: </a:t>
            </a:r>
          </a:p>
          <a:p>
            <a:endParaRPr lang="en-SG" sz="1000" b="0" i="0" u="none" strike="noStrike" baseline="0" dirty="0">
              <a:solidFill>
                <a:srgbClr val="000000"/>
              </a:solidFill>
              <a:latin typeface="Arial" panose="020B0604020202020204" pitchFamily="34" charset="0"/>
            </a:endParaRPr>
          </a:p>
          <a:p>
            <a:r>
              <a:rPr lang="en-SG" sz="1000" b="0" i="0" u="none" strike="noStrike" baseline="0" dirty="0">
                <a:solidFill>
                  <a:srgbClr val="000000"/>
                </a:solidFill>
                <a:latin typeface="Arial" panose="020B0604020202020204" pitchFamily="34" charset="0"/>
              </a:rPr>
              <a:t>The make and model: </a:t>
            </a:r>
          </a:p>
          <a:p>
            <a:endParaRPr lang="en-SG" sz="1000" b="0" i="0" u="none" strike="noStrike" baseline="0" dirty="0">
              <a:solidFill>
                <a:srgbClr val="000000"/>
              </a:solidFill>
              <a:latin typeface="Arial" panose="020B0604020202020204" pitchFamily="34" charset="0"/>
            </a:endParaRP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Capacity </a:t>
            </a:r>
          </a:p>
          <a:p>
            <a:pPr marL="171450" indent="-171450">
              <a:buFont typeface="Arial" panose="020B0604020202020204" pitchFamily="34" charset="0"/>
              <a:buChar char="•"/>
            </a:pPr>
            <a:r>
              <a:rPr lang="en-US" sz="1000" b="0" i="0" u="none" strike="noStrike" baseline="0" dirty="0">
                <a:solidFill>
                  <a:srgbClr val="000000"/>
                </a:solidFill>
                <a:latin typeface="Arial" panose="020B0604020202020204" pitchFamily="34" charset="0"/>
              </a:rPr>
              <a:t>Jib length (plus fly /</a:t>
            </a:r>
            <a:r>
              <a:rPr lang="en-US" sz="1000" b="0" i="0" u="none" strike="noStrike" baseline="0" dirty="0" err="1">
                <a:solidFill>
                  <a:srgbClr val="000000"/>
                </a:solidFill>
                <a:latin typeface="Arial" panose="020B0604020202020204" pitchFamily="34" charset="0"/>
              </a:rPr>
              <a:t>luffer</a:t>
            </a:r>
            <a:r>
              <a:rPr lang="en-US" sz="1000" b="0" i="0" u="none" strike="noStrike" baseline="0" dirty="0">
                <a:solidFill>
                  <a:srgbClr val="000000"/>
                </a:solidFill>
                <a:latin typeface="Arial" panose="020B0604020202020204" pitchFamily="34" charset="0"/>
              </a:rPr>
              <a:t> jib with offset where required); </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Outrigger Spread;</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Outrigger Load</a:t>
            </a:r>
          </a:p>
          <a:p>
            <a:pPr marL="171450" indent="-171450">
              <a:buFont typeface="Arial" panose="020B0604020202020204" pitchFamily="34" charset="0"/>
              <a:buChar char="•"/>
            </a:pPr>
            <a:r>
              <a:rPr lang="en-SG" sz="1000" b="0" i="0" u="none" strike="noStrike" baseline="0" dirty="0">
                <a:solidFill>
                  <a:srgbClr val="000000"/>
                </a:solidFill>
                <a:latin typeface="Arial" panose="020B0604020202020204" pitchFamily="34" charset="0"/>
              </a:rPr>
              <a:t>Counter</a:t>
            </a:r>
            <a:r>
              <a:rPr lang="en-SG" sz="1000" dirty="0">
                <a:solidFill>
                  <a:srgbClr val="000000"/>
                </a:solidFill>
                <a:latin typeface="Arial" panose="020B0604020202020204" pitchFamily="34" charset="0"/>
              </a:rPr>
              <a:t>weight/Super-Lift Counter Weight (where required)</a:t>
            </a:r>
          </a:p>
          <a:p>
            <a:pPr marL="171450" indent="-171450">
              <a:buFont typeface="Arial" panose="020B0604020202020204" pitchFamily="34" charset="0"/>
              <a:buChar char="•"/>
            </a:pPr>
            <a:endParaRPr lang="en-SG" sz="1000" dirty="0">
              <a:solidFill>
                <a:srgbClr val="000000"/>
              </a:solidFill>
              <a:latin typeface="Arial" panose="020B0604020202020204" pitchFamily="34" charset="0"/>
            </a:endParaRPr>
          </a:p>
          <a:p>
            <a:pPr algn="ctr"/>
            <a:r>
              <a:rPr lang="en-SG" sz="1000" b="1" i="0" u="sng" strike="noStrike" baseline="0" dirty="0">
                <a:solidFill>
                  <a:srgbClr val="000000"/>
                </a:solidFill>
                <a:latin typeface="Arial" panose="020B0604020202020204" pitchFamily="34" charset="0"/>
              </a:rPr>
              <a:t>17.0 Ground &amp; Outriggers </a:t>
            </a:r>
          </a:p>
          <a:p>
            <a:pPr algn="ctr"/>
            <a:endParaRPr lang="en-SG" sz="1000" b="0" i="0" u="sng"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17.1 When lifting on outriggers the outrigger beams and jacks must be extended in accordance with the manufacturer’s instructions for the crane. The Competent Person must ensure that there is sufficient space at the crane siting location for this to be achieved. The crane rated capacity indicator must be set in accordance with the manufacturer’s operating instruction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17.2 A normal routine &amp; non-routine lifting operations with hydraulic mobile cranes must have outriggers fully blocked out using load bearing mats</a:t>
            </a:r>
            <a:r>
              <a:rPr lang="en-US" sz="1000" dirty="0">
                <a:solidFill>
                  <a:srgbClr val="000000"/>
                </a:solidFill>
                <a:latin typeface="Arial" panose="020B0604020202020204" pitchFamily="34" charset="0"/>
              </a:rPr>
              <a:t> / Metal Plate</a:t>
            </a:r>
            <a:r>
              <a:rPr lang="en-US" sz="1000" b="0" i="0" u="none" strike="noStrike" baseline="0" dirty="0">
                <a:solidFill>
                  <a:srgbClr val="000000"/>
                </a:solidFill>
                <a:latin typeface="Arial" panose="020B0604020202020204" pitchFamily="34" charset="0"/>
              </a:rPr>
              <a:t>.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17.3 Mobile/lorry /crawler /lorry Cranes are designed to walk but careful and particular attention must be given to the ground conditions. At the time of the survey ground conditions should be established. In many cases it will be necessary to lay down large wooden or steel mats for the Crane to move around a site. </a:t>
            </a:r>
          </a:p>
          <a:p>
            <a:pPr marL="171450" indent="-171450">
              <a:buFont typeface="Arial" panose="020B0604020202020204" pitchFamily="34" charset="0"/>
              <a:buChar char="•"/>
            </a:pPr>
            <a:endParaRPr lang="en-SG" sz="1000" dirty="0">
              <a:solidFill>
                <a:srgbClr val="000000"/>
              </a:solidFill>
              <a:latin typeface="Arial" panose="020B0604020202020204" pitchFamily="34" charset="0"/>
            </a:endParaRPr>
          </a:p>
          <a:p>
            <a:endParaRPr lang="en-SG" sz="1000" dirty="0">
              <a:solidFill>
                <a:srgbClr val="000000"/>
              </a:solidFill>
              <a:latin typeface="Arial" panose="020B0604020202020204" pitchFamily="34" charset="0"/>
            </a:endParaRPr>
          </a:p>
          <a:p>
            <a:endParaRPr lang="en-SG" sz="1000" dirty="0"/>
          </a:p>
        </p:txBody>
      </p:sp>
      <p:sp>
        <p:nvSpPr>
          <p:cNvPr id="3" name="Slide Number Placeholder 2">
            <a:extLst>
              <a:ext uri="{FF2B5EF4-FFF2-40B4-BE49-F238E27FC236}">
                <a16:creationId xmlns:a16="http://schemas.microsoft.com/office/drawing/2014/main" id="{7B9D7F96-21ED-6029-0829-CACE53D1CDA0}"/>
              </a:ext>
            </a:extLst>
          </p:cNvPr>
          <p:cNvSpPr>
            <a:spLocks noGrp="1"/>
          </p:cNvSpPr>
          <p:nvPr>
            <p:ph type="sldNum" sz="quarter" idx="12"/>
          </p:nvPr>
        </p:nvSpPr>
        <p:spPr/>
        <p:txBody>
          <a:bodyPr/>
          <a:lstStyle/>
          <a:p>
            <a:fld id="{F0052729-9336-4E5B-BC69-5177B8B6DD05}" type="slidenum">
              <a:rPr lang="en-SG" smtClean="0"/>
              <a:t>11</a:t>
            </a:fld>
            <a:endParaRPr lang="en-SG"/>
          </a:p>
        </p:txBody>
      </p:sp>
    </p:spTree>
    <p:extLst>
      <p:ext uri="{BB962C8B-B14F-4D97-AF65-F5344CB8AC3E}">
        <p14:creationId xmlns:p14="http://schemas.microsoft.com/office/powerpoint/2010/main" val="3186375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5D55-07E0-C90A-91BB-18FB6CDBDB2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19498284-CAE0-5C90-EF9E-BC9D0771A54E}"/>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CE552374-324F-B7A2-F02A-B0DF4643F48F}"/>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7AD7641B-FD93-5506-1833-F7B5C434B2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graphicFrame>
        <p:nvGraphicFramePr>
          <p:cNvPr id="9" name="Table 8">
            <a:extLst>
              <a:ext uri="{FF2B5EF4-FFF2-40B4-BE49-F238E27FC236}">
                <a16:creationId xmlns:a16="http://schemas.microsoft.com/office/drawing/2014/main" id="{9540D99F-C1FD-2741-71C1-F246C896FC05}"/>
              </a:ext>
            </a:extLst>
          </p:cNvPr>
          <p:cNvGraphicFramePr>
            <a:graphicFrameLocks noGrp="1"/>
          </p:cNvGraphicFramePr>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E98F55EB-CCBC-3490-84D2-AE983006E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2" name="TextBox 1">
            <a:extLst>
              <a:ext uri="{FF2B5EF4-FFF2-40B4-BE49-F238E27FC236}">
                <a16:creationId xmlns:a16="http://schemas.microsoft.com/office/drawing/2014/main" id="{4EED4218-E649-677F-50CC-6FEE3204B07C}"/>
              </a:ext>
            </a:extLst>
          </p:cNvPr>
          <p:cNvSpPr txBox="1"/>
          <p:nvPr/>
        </p:nvSpPr>
        <p:spPr>
          <a:xfrm>
            <a:off x="143933" y="2897646"/>
            <a:ext cx="6570132" cy="2708434"/>
          </a:xfrm>
          <a:prstGeom prst="rect">
            <a:avLst/>
          </a:prstGeom>
          <a:noFill/>
        </p:spPr>
        <p:txBody>
          <a:bodyPr wrap="square" rtlCol="0">
            <a:spAutoFit/>
          </a:bodyPr>
          <a:lstStyle/>
          <a:p>
            <a:endParaRPr lang="en-US" sz="1000" dirty="0">
              <a:solidFill>
                <a:srgbClr val="000000"/>
              </a:solidFill>
              <a:latin typeface="Arial" panose="020B0604020202020204" pitchFamily="34" charset="0"/>
            </a:endParaRPr>
          </a:p>
          <a:p>
            <a:pPr algn="ctr"/>
            <a:r>
              <a:rPr lang="en-SG" sz="1000" b="1" i="0" u="sng" strike="noStrike" baseline="0" dirty="0">
                <a:solidFill>
                  <a:srgbClr val="000000"/>
                </a:solidFill>
                <a:latin typeface="Arial" panose="020B0604020202020204" pitchFamily="34" charset="0"/>
              </a:rPr>
              <a:t>18.0 Access &amp; Lifting Location </a:t>
            </a:r>
          </a:p>
          <a:p>
            <a:pPr algn="ctr"/>
            <a:endParaRPr lang="en-SG" sz="1000" b="0" i="0" u="sng"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18.1 The Competent Person during his survey should take particular note and record the site ground surface conditions on at least 2 occasions, the first relates to access for the crane and transport vehicles (boom/ ballast/counterweight carriers) to the site location and the second being the actual location where the crane will be located when lifting the load/s.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18.2 The Competent Person must be satisfied with the space provided and the access route to be used, also the nature of the surface (e.g. blacktop, hard-core, concrete). For clarity, the route can be shown on the site plan </a:t>
            </a:r>
            <a:endParaRPr lang="en-SG" sz="1000" dirty="0"/>
          </a:p>
          <a:p>
            <a:endParaRPr lang="en-SG" sz="1000" dirty="0"/>
          </a:p>
          <a:p>
            <a:pPr algn="ctr"/>
            <a:r>
              <a:rPr lang="en-SG" sz="1000" b="1" i="0" u="sng" strike="noStrike" baseline="0" dirty="0">
                <a:solidFill>
                  <a:srgbClr val="000000"/>
                </a:solidFill>
                <a:latin typeface="Arial" panose="020B0604020202020204" pitchFamily="34" charset="0"/>
              </a:rPr>
              <a:t>19.0 A Pre-Start Meeting </a:t>
            </a:r>
          </a:p>
          <a:p>
            <a:pPr algn="ctr"/>
            <a:endParaRPr lang="en-SG" sz="1000" b="0" i="0" u="sng"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19.1 Start any lifting operation until all concerned have been briefed in a Pre-Start Meeting, ensuring that they understand their role and responsibilities and that they have signed onto the Permit-to-Work or record of attendance at the Pre-Start Meeting. </a:t>
            </a:r>
          </a:p>
          <a:p>
            <a:endParaRPr lang="en-SG" sz="1000" dirty="0"/>
          </a:p>
        </p:txBody>
      </p:sp>
      <p:sp>
        <p:nvSpPr>
          <p:cNvPr id="4" name="Slide Number Placeholder 3">
            <a:extLst>
              <a:ext uri="{FF2B5EF4-FFF2-40B4-BE49-F238E27FC236}">
                <a16:creationId xmlns:a16="http://schemas.microsoft.com/office/drawing/2014/main" id="{1E204D4B-682F-2D45-F732-F5200D7D6C3D}"/>
              </a:ext>
            </a:extLst>
          </p:cNvPr>
          <p:cNvSpPr>
            <a:spLocks noGrp="1"/>
          </p:cNvSpPr>
          <p:nvPr>
            <p:ph type="sldNum" sz="quarter" idx="12"/>
          </p:nvPr>
        </p:nvSpPr>
        <p:spPr/>
        <p:txBody>
          <a:bodyPr/>
          <a:lstStyle/>
          <a:p>
            <a:fld id="{F0052729-9336-4E5B-BC69-5177B8B6DD05}" type="slidenum">
              <a:rPr lang="en-SG" smtClean="0"/>
              <a:t>12</a:t>
            </a:fld>
            <a:endParaRPr lang="en-SG"/>
          </a:p>
        </p:txBody>
      </p:sp>
      <p:pic>
        <p:nvPicPr>
          <p:cNvPr id="7" name="Picture 6">
            <a:extLst>
              <a:ext uri="{FF2B5EF4-FFF2-40B4-BE49-F238E27FC236}">
                <a16:creationId xmlns:a16="http://schemas.microsoft.com/office/drawing/2014/main" id="{0ED8BB88-1B17-F805-6D1F-B4BE97B01C77}"/>
              </a:ext>
            </a:extLst>
          </p:cNvPr>
          <p:cNvPicPr>
            <a:picLocks noChangeAspect="1"/>
          </p:cNvPicPr>
          <p:nvPr/>
        </p:nvPicPr>
        <p:blipFill>
          <a:blip r:embed="rId5">
            <a:extLst>
              <a:ext uri="{28A0092B-C50C-407E-A947-70E740481C1C}">
                <a14:useLocalDpi xmlns:a14="http://schemas.microsoft.com/office/drawing/2010/main" val="0"/>
              </a:ext>
            </a:extLst>
          </a:blip>
          <a:srcRect t="15568" r="1180"/>
          <a:stretch/>
        </p:blipFill>
        <p:spPr>
          <a:xfrm>
            <a:off x="819376" y="5885877"/>
            <a:ext cx="4706132" cy="3015723"/>
          </a:xfrm>
          <a:prstGeom prst="rect">
            <a:avLst/>
          </a:prstGeom>
        </p:spPr>
      </p:pic>
    </p:spTree>
    <p:extLst>
      <p:ext uri="{BB962C8B-B14F-4D97-AF65-F5344CB8AC3E}">
        <p14:creationId xmlns:p14="http://schemas.microsoft.com/office/powerpoint/2010/main" val="1951931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53DF3-D58C-6906-BA26-6AD3EEF57AB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2D15572-C555-4808-83C3-2211CA852594}"/>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16259C97-3004-0CDA-5E38-98A4D9660676}"/>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5C22D905-7A57-1738-EC0C-B6BF283ED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graphicFrame>
        <p:nvGraphicFramePr>
          <p:cNvPr id="9" name="Table 8">
            <a:extLst>
              <a:ext uri="{FF2B5EF4-FFF2-40B4-BE49-F238E27FC236}">
                <a16:creationId xmlns:a16="http://schemas.microsoft.com/office/drawing/2014/main" id="{AEBC8057-26E0-08C6-C5AC-EE8D8369E99E}"/>
              </a:ext>
            </a:extLst>
          </p:cNvPr>
          <p:cNvGraphicFramePr>
            <a:graphicFrameLocks noGrp="1"/>
          </p:cNvGraphicFramePr>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2DC924AD-3678-D478-4D21-E9BAF5AE00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2" name="TextBox 1">
            <a:extLst>
              <a:ext uri="{FF2B5EF4-FFF2-40B4-BE49-F238E27FC236}">
                <a16:creationId xmlns:a16="http://schemas.microsoft.com/office/drawing/2014/main" id="{AE4B850C-CDF4-048C-C5A1-D6C3F9045D28}"/>
              </a:ext>
            </a:extLst>
          </p:cNvPr>
          <p:cNvSpPr txBox="1"/>
          <p:nvPr/>
        </p:nvSpPr>
        <p:spPr>
          <a:xfrm>
            <a:off x="98214" y="2811921"/>
            <a:ext cx="6444826" cy="6247864"/>
          </a:xfrm>
          <a:prstGeom prst="rect">
            <a:avLst/>
          </a:prstGeom>
          <a:noFill/>
        </p:spPr>
        <p:txBody>
          <a:bodyPr wrap="square" rtlCol="0">
            <a:spAutoFit/>
          </a:bodyPr>
          <a:lstStyle/>
          <a:p>
            <a:pPr algn="ctr"/>
            <a:r>
              <a:rPr lang="en-SG" sz="1000" b="1" i="0" u="sng" strike="noStrike" baseline="0" dirty="0">
                <a:solidFill>
                  <a:srgbClr val="000000"/>
                </a:solidFill>
                <a:latin typeface="Arial" panose="020B0604020202020204" pitchFamily="34" charset="0"/>
              </a:rPr>
              <a:t>Sequence of Lifting operation </a:t>
            </a:r>
          </a:p>
          <a:p>
            <a:pPr algn="ctr"/>
            <a:endParaRPr lang="en-SG" sz="1000" b="0" i="0" u="sng"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20.1 Crane mobilize to site must be equipped with certified LM certificate and checklist duly endorsed by a mechanical professional engineer.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20.2. All cranes must be re-inspected by mechanical professional engineer every 12 months to ensure cranes are in good working condition.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20.3 A qualified lifting supervisor must be present to supervise every lifting operation.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20.4. All cranes must be operated by qualified persons.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20.5. Before any daily operation, daily inspection of crane must be carried out by operator to check the wire ropes, blocks, hooks and overloading device, etc. as listed in the checklist to ensure they are in working condition.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20.6. Investigate the site headroom, site clearance and site access by lifting supervisor. </a:t>
            </a:r>
          </a:p>
          <a:p>
            <a:endParaRPr lang="en-US" sz="1000" b="0" i="0" u="none" strike="noStrike" baseline="0" dirty="0">
              <a:solidFill>
                <a:srgbClr val="000000"/>
              </a:solidFill>
              <a:latin typeface="Arial" panose="020B0604020202020204" pitchFamily="34" charset="0"/>
            </a:endParaRPr>
          </a:p>
          <a:p>
            <a:r>
              <a:rPr lang="en-SG" sz="1000" b="1" i="0" u="sng" strike="noStrike" baseline="0" dirty="0">
                <a:solidFill>
                  <a:srgbClr val="000000"/>
                </a:solidFill>
                <a:latin typeface="Arial" panose="020B0604020202020204" pitchFamily="34" charset="0"/>
              </a:rPr>
              <a:t>Procedure Step </a:t>
            </a:r>
            <a:endParaRPr lang="en-SG" sz="1000" b="0" i="0" u="sng" strike="noStrike" baseline="0" dirty="0">
              <a:solidFill>
                <a:srgbClr val="000000"/>
              </a:solidFill>
              <a:latin typeface="Arial" panose="020B0604020202020204" pitchFamily="34" charset="0"/>
            </a:endParaRPr>
          </a:p>
          <a:p>
            <a:pPr marL="171450" indent="-171450">
              <a:buFont typeface="Wingdings" panose="05000000000000000000" pitchFamily="2" charset="2"/>
              <a:buChar char="v"/>
            </a:pPr>
            <a:endParaRPr lang="en-US" sz="100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Do not wrap the hoist load chain or wire rope around the load. The load shall be attached to the load hook with slings or other approved devices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Do not use hoist for side pulls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Use tag lines to control free swinging loads </a:t>
            </a:r>
          </a:p>
          <a:p>
            <a:pPr marL="228600" indent="-228600" algn="ctr">
              <a:buFont typeface="Wingdings" panose="05000000000000000000" pitchFamily="2" charset="2"/>
              <a:buChar char="v"/>
            </a:pPr>
            <a:endParaRPr lang="en-SG" sz="1000" b="0" i="0" u="sng"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Where possible limit access to the areas where the hoist is in operation </a:t>
            </a:r>
          </a:p>
          <a:p>
            <a:pPr marL="228600" indent="-228600">
              <a:buFont typeface="Wingdings" panose="05000000000000000000" pitchFamily="2" charset="2"/>
              <a:buChar char="v"/>
            </a:pPr>
            <a:endParaRPr lang="en-SG"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For general lifting never use a chain when it is possible to use wire rope. The failure of a single link of chain can result in a serious accident, but wire rope is frequently composed of 114 wires all of which must fail before the rope breaks. Wire ropes provide reserved strength and a chance to notice a hazard, chains my not. </a:t>
            </a:r>
          </a:p>
          <a:p>
            <a:pPr marL="228600" indent="-228600">
              <a:buFont typeface="Wingdings" panose="05000000000000000000" pitchFamily="2" charset="2"/>
              <a:buChar char="v"/>
            </a:pPr>
            <a:endParaRPr lang="en-SG"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Do not lift loads over people </a:t>
            </a:r>
          </a:p>
          <a:p>
            <a:pPr marL="228600" indent="-228600">
              <a:buFont typeface="Wingdings" panose="05000000000000000000" pitchFamily="2" charset="2"/>
              <a:buChar char="v"/>
            </a:pPr>
            <a:endParaRPr lang="en-SG"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Do not exceed hoist capacity </a:t>
            </a:r>
          </a:p>
          <a:p>
            <a:pPr marL="228600" indent="-228600">
              <a:buFont typeface="Wingdings" panose="05000000000000000000" pitchFamily="2" charset="2"/>
              <a:buChar char="v"/>
            </a:pPr>
            <a:endParaRPr lang="en-SG" sz="100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Never use the upper limit switch as an operating control </a:t>
            </a:r>
          </a:p>
          <a:p>
            <a:endParaRPr lang="en-SG" sz="1000" dirty="0"/>
          </a:p>
        </p:txBody>
      </p:sp>
      <p:sp>
        <p:nvSpPr>
          <p:cNvPr id="4" name="Slide Number Placeholder 3">
            <a:extLst>
              <a:ext uri="{FF2B5EF4-FFF2-40B4-BE49-F238E27FC236}">
                <a16:creationId xmlns:a16="http://schemas.microsoft.com/office/drawing/2014/main" id="{C6E2BAE2-785D-487F-623F-E801BD25796C}"/>
              </a:ext>
            </a:extLst>
          </p:cNvPr>
          <p:cNvSpPr>
            <a:spLocks noGrp="1"/>
          </p:cNvSpPr>
          <p:nvPr>
            <p:ph type="sldNum" sz="quarter" idx="12"/>
          </p:nvPr>
        </p:nvSpPr>
        <p:spPr/>
        <p:txBody>
          <a:bodyPr/>
          <a:lstStyle/>
          <a:p>
            <a:fld id="{F0052729-9336-4E5B-BC69-5177B8B6DD05}" type="slidenum">
              <a:rPr lang="en-SG" smtClean="0"/>
              <a:t>13</a:t>
            </a:fld>
            <a:endParaRPr lang="en-SG"/>
          </a:p>
        </p:txBody>
      </p:sp>
    </p:spTree>
    <p:extLst>
      <p:ext uri="{BB962C8B-B14F-4D97-AF65-F5344CB8AC3E}">
        <p14:creationId xmlns:p14="http://schemas.microsoft.com/office/powerpoint/2010/main" val="2377902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B48B3-EE19-D4E7-28DD-F9A82F234D80}"/>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F548D44-96E1-F8AD-7A8D-D9AD1DDA6C4A}"/>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FB449064-AC4E-C135-EFF9-636CEF0B4FE2}"/>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D4F84F9C-B074-BB28-6CF0-524B2244A7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graphicFrame>
        <p:nvGraphicFramePr>
          <p:cNvPr id="9" name="Table 8">
            <a:extLst>
              <a:ext uri="{FF2B5EF4-FFF2-40B4-BE49-F238E27FC236}">
                <a16:creationId xmlns:a16="http://schemas.microsoft.com/office/drawing/2014/main" id="{CD8B00A9-79BA-FDE2-CBEB-512E3050821E}"/>
              </a:ext>
            </a:extLst>
          </p:cNvPr>
          <p:cNvGraphicFramePr>
            <a:graphicFrameLocks noGrp="1"/>
          </p:cNvGraphicFramePr>
          <p:nvPr>
            <p:extLst>
              <p:ext uri="{D42A27DB-BD31-4B8C-83A1-F6EECF244321}">
                <p14:modId xmlns:p14="http://schemas.microsoft.com/office/powerpoint/2010/main" val="2432969215"/>
              </p:ext>
            </p:extLst>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Singapore Mint </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45FE1BD5-1666-3931-2E45-97AC28C890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2" name="TextBox 1">
            <a:extLst>
              <a:ext uri="{FF2B5EF4-FFF2-40B4-BE49-F238E27FC236}">
                <a16:creationId xmlns:a16="http://schemas.microsoft.com/office/drawing/2014/main" id="{28FBD515-1D8E-666F-9865-911797481E25}"/>
              </a:ext>
            </a:extLst>
          </p:cNvPr>
          <p:cNvSpPr txBox="1"/>
          <p:nvPr/>
        </p:nvSpPr>
        <p:spPr>
          <a:xfrm>
            <a:off x="54187" y="2640523"/>
            <a:ext cx="6454986" cy="6863417"/>
          </a:xfrm>
          <a:prstGeom prst="rect">
            <a:avLst/>
          </a:prstGeom>
          <a:noFill/>
        </p:spPr>
        <p:txBody>
          <a:bodyPr wrap="square" rtlCol="0">
            <a:spAutoFit/>
          </a:bodyPr>
          <a:lstStyle/>
          <a:p>
            <a:pPr algn="l"/>
            <a:endParaRPr lang="en-SG" sz="1000" b="0" i="0" u="none" strike="noStrike" baseline="0" dirty="0">
              <a:solidFill>
                <a:srgbClr val="000000"/>
              </a:solidFill>
              <a:latin typeface="Arial" panose="020B0604020202020204" pitchFamily="34" charset="0"/>
            </a:endParaRPr>
          </a:p>
          <a:p>
            <a:pPr marL="171450" indent="-17145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Loads should be lifted smoothly without sudden acceleration or deceleration </a:t>
            </a:r>
          </a:p>
          <a:p>
            <a:pPr marL="285750" indent="-285750">
              <a:buFont typeface="+mj-lt"/>
              <a:buAutoNum type="alphaUcPeriod"/>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Always inch the hoist into the load to reduce shock loading and provide warning if the load is anchored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While any employee is on the load or hook of an overhead or gantry crane there shall be no hoisting, lowering or travelling no matter how they are supported, unless the personnel are supported on specially designed platforms using management approved procedures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Check that the load is well secured, properly balanced and hoist checked for vertical drift before lifting it more than a few inches. If vertical drift is present stop hoisting operations and check for vertical drift.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Check for drift with a rated load on the hook, while lifting the load. If the load does not stop within 2” when control is released, check and adjust the load brakes to limit travel to no more than 1” or less. If the brake cannot be adjusted to limit travel to 1” or less, than the brake shoes or disc needs to be replaced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Verify that the load chain or rope is not kinked, twisted or snagged against obstructions as load is being lifted. On multi part hoists, verify that the load chains are not twisted about each other. This occurs when the lifting block is turned through the chain during handling or if they are not properly aligned when initially installed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Operate the hoist cautiously, especially when lowering, so that the load is kept under control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Do not lower below the point where less than two full wraps of wire ropes remain on the hoisting drum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Do not operate hoist when the chain or cable is not properly seated in its grooves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Anytime the hoist is lowered to a slack line condition check the revving on pulleys and drums before making the next lift. Sheaves carrying ropes which can be momentarily unloaded shall be provided with close fitting guards or other suitable devices to guide the rope back into the grooves when the load is reapplied, In addition sheaves in the bottom block shall be equipped with close fitting guard that prevents ropes from becoming fouled when the block is lying on the ground with the rope loose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All running sheaves shall be equipped with means for lubrication. Permanently lubricated sealed bearings meet this requirement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Hoist brakes shall be tested each time a load above 90% of the rated load is handled </a:t>
            </a:r>
          </a:p>
          <a:p>
            <a:pPr marL="228600" indent="-228600">
              <a:buFont typeface="Wingdings" panose="05000000000000000000" pitchFamily="2" charset="2"/>
              <a:buChar char="v"/>
            </a:pPr>
            <a:endParaRPr lang="en-US"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SG" sz="1000" b="0" i="0" u="none" strike="noStrike" baseline="0" dirty="0">
                <a:solidFill>
                  <a:srgbClr val="000000"/>
                </a:solidFill>
                <a:latin typeface="Arial" panose="020B0604020202020204" pitchFamily="34" charset="0"/>
              </a:rPr>
              <a:t>Daily Inspection Checklist </a:t>
            </a:r>
          </a:p>
          <a:p>
            <a:pPr marL="228600" indent="-228600">
              <a:buFont typeface="Wingdings" panose="05000000000000000000" pitchFamily="2" charset="2"/>
              <a:buChar char="v"/>
            </a:pPr>
            <a:endParaRPr lang="en-SG" sz="1000" b="0" i="0" u="none" strike="noStrike" baseline="0" dirty="0">
              <a:solidFill>
                <a:srgbClr val="000000"/>
              </a:solidFill>
              <a:latin typeface="Arial" panose="020B0604020202020204" pitchFamily="34" charset="0"/>
            </a:endParaRPr>
          </a:p>
          <a:p>
            <a:pPr marL="228600" indent="-228600">
              <a:buFont typeface="Wingdings" panose="05000000000000000000" pitchFamily="2" charset="2"/>
              <a:buChar char="v"/>
            </a:pPr>
            <a:r>
              <a:rPr lang="en-US" sz="1000" b="0" i="0" u="none" strike="noStrike" baseline="0" dirty="0">
                <a:solidFill>
                  <a:srgbClr val="000000"/>
                </a:solidFill>
                <a:latin typeface="Arial" panose="020B0604020202020204" pitchFamily="34" charset="0"/>
              </a:rPr>
              <a:t>Slings, fastenings and attachments shall be inspected daily for damage or defects by a person designated by management.</a:t>
            </a:r>
          </a:p>
          <a:p>
            <a:endParaRPr lang="en-SG" sz="1000" dirty="0"/>
          </a:p>
        </p:txBody>
      </p:sp>
      <p:sp>
        <p:nvSpPr>
          <p:cNvPr id="4" name="Slide Number Placeholder 3">
            <a:extLst>
              <a:ext uri="{FF2B5EF4-FFF2-40B4-BE49-F238E27FC236}">
                <a16:creationId xmlns:a16="http://schemas.microsoft.com/office/drawing/2014/main" id="{B3587C6A-085B-4AB3-A39B-79D2B974C7EE}"/>
              </a:ext>
            </a:extLst>
          </p:cNvPr>
          <p:cNvSpPr>
            <a:spLocks noGrp="1"/>
          </p:cNvSpPr>
          <p:nvPr>
            <p:ph type="sldNum" sz="quarter" idx="12"/>
          </p:nvPr>
        </p:nvSpPr>
        <p:spPr/>
        <p:txBody>
          <a:bodyPr/>
          <a:lstStyle/>
          <a:p>
            <a:fld id="{F0052729-9336-4E5B-BC69-5177B8B6DD05}" type="slidenum">
              <a:rPr lang="en-SG" smtClean="0"/>
              <a:t>14</a:t>
            </a:fld>
            <a:endParaRPr lang="en-SG"/>
          </a:p>
        </p:txBody>
      </p:sp>
    </p:spTree>
    <p:extLst>
      <p:ext uri="{BB962C8B-B14F-4D97-AF65-F5344CB8AC3E}">
        <p14:creationId xmlns:p14="http://schemas.microsoft.com/office/powerpoint/2010/main" val="1995916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9BC5-15AF-0B03-BA58-AE6ACC9FD3A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B706FEA-91CB-D8D6-E070-BCF84B141E52}"/>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F5E69022-3147-CFC1-EA2B-A09C2237D795}"/>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71B817A5-CB18-C2D8-E7F4-0E6D7E3A7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graphicFrame>
        <p:nvGraphicFramePr>
          <p:cNvPr id="9" name="Table 8">
            <a:extLst>
              <a:ext uri="{FF2B5EF4-FFF2-40B4-BE49-F238E27FC236}">
                <a16:creationId xmlns:a16="http://schemas.microsoft.com/office/drawing/2014/main" id="{71314569-FDB6-95AE-3B2B-B1911579D9D9}"/>
              </a:ext>
            </a:extLst>
          </p:cNvPr>
          <p:cNvGraphicFramePr>
            <a:graphicFrameLocks noGrp="1"/>
          </p:cNvGraphicFramePr>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Singapore Mint</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Singapore Mint </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13095B70-5722-83F5-75AF-D150DED50F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4" name="Slide Number Placeholder 3">
            <a:extLst>
              <a:ext uri="{FF2B5EF4-FFF2-40B4-BE49-F238E27FC236}">
                <a16:creationId xmlns:a16="http://schemas.microsoft.com/office/drawing/2014/main" id="{86ACDD14-1C2A-1462-2CF3-E24852FE2972}"/>
              </a:ext>
            </a:extLst>
          </p:cNvPr>
          <p:cNvSpPr>
            <a:spLocks noGrp="1"/>
          </p:cNvSpPr>
          <p:nvPr>
            <p:ph type="sldNum" sz="quarter" idx="12"/>
          </p:nvPr>
        </p:nvSpPr>
        <p:spPr/>
        <p:txBody>
          <a:bodyPr/>
          <a:lstStyle/>
          <a:p>
            <a:fld id="{F0052729-9336-4E5B-BC69-5177B8B6DD05}" type="slidenum">
              <a:rPr lang="en-SG" smtClean="0"/>
              <a:t>15</a:t>
            </a:fld>
            <a:endParaRPr lang="en-SG"/>
          </a:p>
        </p:txBody>
      </p:sp>
      <p:sp>
        <p:nvSpPr>
          <p:cNvPr id="2" name="TextBox 1">
            <a:extLst>
              <a:ext uri="{FF2B5EF4-FFF2-40B4-BE49-F238E27FC236}">
                <a16:creationId xmlns:a16="http://schemas.microsoft.com/office/drawing/2014/main" id="{F1BE0B7E-0D13-CBDA-F71F-95461F0DF055}"/>
              </a:ext>
            </a:extLst>
          </p:cNvPr>
          <p:cNvSpPr txBox="1"/>
          <p:nvPr/>
        </p:nvSpPr>
        <p:spPr>
          <a:xfrm>
            <a:off x="235131" y="3239589"/>
            <a:ext cx="6622867" cy="6524863"/>
          </a:xfrm>
          <a:prstGeom prst="rect">
            <a:avLst/>
          </a:prstGeom>
          <a:noFill/>
        </p:spPr>
        <p:txBody>
          <a:bodyPr wrap="square" rtlCol="0">
            <a:spAutoFit/>
          </a:bodyPr>
          <a:lstStyle/>
          <a:p>
            <a:r>
              <a:rPr lang="en-US" sz="1100" b="1" u="sng" dirty="0"/>
              <a:t>Work Method Statement for Lifting Operation:</a:t>
            </a:r>
          </a:p>
          <a:p>
            <a:endParaRPr lang="en-US" sz="1100" b="1" u="sng" dirty="0"/>
          </a:p>
          <a:p>
            <a:r>
              <a:rPr lang="en-US" sz="1100" dirty="0"/>
              <a:t>The following work to be carrying out prior to the lifting operation:</a:t>
            </a:r>
          </a:p>
          <a:p>
            <a:endParaRPr lang="en-US" sz="1100" dirty="0"/>
          </a:p>
          <a:p>
            <a:r>
              <a:rPr lang="en-US" sz="1100" dirty="0"/>
              <a:t>Lifting Area to be Fully Barricaded for Safety of Passer-by with Signage of Lifting Operation Displayed.</a:t>
            </a:r>
          </a:p>
          <a:p>
            <a:endParaRPr lang="en-US" sz="1100" dirty="0"/>
          </a:p>
          <a:p>
            <a:r>
              <a:rPr lang="en-US" sz="1100" dirty="0"/>
              <a:t>Lifting Supervisor to Discuss with Crane Operator of Cargo or Equipment Weight for Crane Operator to verify Distance and Parking Location.</a:t>
            </a:r>
          </a:p>
          <a:p>
            <a:endParaRPr lang="en-US" sz="1100" dirty="0"/>
          </a:p>
          <a:p>
            <a:r>
              <a:rPr lang="en-US" sz="1100" dirty="0"/>
              <a:t>Crane Operator to Ensure all ground condition are good strong.</a:t>
            </a:r>
          </a:p>
          <a:p>
            <a:endParaRPr lang="en-US" sz="1100" dirty="0"/>
          </a:p>
          <a:p>
            <a:r>
              <a:rPr lang="en-US" sz="1100" dirty="0"/>
              <a:t>Outrigger to be rested on Metal Plates to Spread load.</a:t>
            </a:r>
          </a:p>
          <a:p>
            <a:endParaRPr lang="en-US" sz="1100" dirty="0"/>
          </a:p>
          <a:p>
            <a:r>
              <a:rPr lang="en-US" sz="1100" dirty="0"/>
              <a:t>Lifting Wire and Slings are to be in Good Condition and LG Certs are all valid checked by Supervisor.</a:t>
            </a:r>
          </a:p>
          <a:p>
            <a:endParaRPr lang="en-US" sz="1100" dirty="0"/>
          </a:p>
          <a:p>
            <a:r>
              <a:rPr lang="en-US" sz="1100" dirty="0"/>
              <a:t>Supervisor is to check SWL is Sufficient to Support Cargo / Equipment Weight</a:t>
            </a:r>
          </a:p>
          <a:p>
            <a:endParaRPr lang="en-US" sz="1100" dirty="0"/>
          </a:p>
          <a:p>
            <a:r>
              <a:rPr lang="en-US" sz="1100" dirty="0"/>
              <a:t>All Workers involved will have to brief and sign on the Tool-Box Meeting form before work commence</a:t>
            </a:r>
          </a:p>
          <a:p>
            <a:endParaRPr lang="en-US" sz="1100" dirty="0"/>
          </a:p>
          <a:p>
            <a:r>
              <a:rPr lang="en-US" sz="1100" dirty="0"/>
              <a:t>Lifting Team will be wearing vest with their roles stated at the back of their Red Luminous Vest to perform their roles.</a:t>
            </a:r>
            <a:br>
              <a:rPr lang="en-US" sz="1100" dirty="0"/>
            </a:br>
            <a:br>
              <a:rPr lang="en-US" sz="1100" dirty="0"/>
            </a:br>
            <a:r>
              <a:rPr lang="en-US" sz="1100" dirty="0"/>
              <a:t>Road Marshal will be parked out of hoisting area to control traffic and to stop unauthorized entry of personnel into lifting area.</a:t>
            </a:r>
          </a:p>
          <a:p>
            <a:endParaRPr lang="en-US" sz="1100" dirty="0"/>
          </a:p>
          <a:p>
            <a:r>
              <a:rPr lang="en-US" sz="1100" dirty="0"/>
              <a:t>Team will lay Platform on Uneven Ground to Facilitate the Machine to be transported out of the factory  on a more level position.</a:t>
            </a:r>
          </a:p>
          <a:p>
            <a:endParaRPr lang="en-US" sz="1100" dirty="0"/>
          </a:p>
          <a:p>
            <a:r>
              <a:rPr lang="en-US" sz="1100" dirty="0"/>
              <a:t>After Laying of the Platform machinery will be jacked up using </a:t>
            </a:r>
            <a:r>
              <a:rPr lang="en-US" sz="1100" dirty="0" err="1"/>
              <a:t>Hydaulic</a:t>
            </a:r>
            <a:r>
              <a:rPr lang="en-US" sz="1100" dirty="0"/>
              <a:t> Pump System to Insert Rollers underneath the Machine.</a:t>
            </a:r>
            <a:br>
              <a:rPr lang="en-US" sz="1100" dirty="0"/>
            </a:br>
            <a:br>
              <a:rPr lang="en-US" sz="1100" dirty="0"/>
            </a:br>
            <a:r>
              <a:rPr lang="en-US" sz="1100" dirty="0"/>
              <a:t>After inserting roller in Shift Machinery out of the Premises onto the Platform. </a:t>
            </a:r>
            <a:br>
              <a:rPr lang="en-US" sz="1100" dirty="0"/>
            </a:br>
            <a:br>
              <a:rPr lang="en-US" sz="1100" dirty="0"/>
            </a:br>
            <a:r>
              <a:rPr lang="en-US" sz="1100" dirty="0" err="1"/>
              <a:t>Riggerman</a:t>
            </a:r>
            <a:r>
              <a:rPr lang="en-US" sz="1100" dirty="0"/>
              <a:t> to reach the hoisting point to Secure Wire Rope / Slings with Crane before lifting</a:t>
            </a:r>
          </a:p>
          <a:p>
            <a:endParaRPr lang="en-US" sz="1100" dirty="0"/>
          </a:p>
          <a:p>
            <a:r>
              <a:rPr lang="en-US" sz="1100" dirty="0"/>
              <a:t>Tagline is to be tied at a machine secured area which to be defined on site.</a:t>
            </a:r>
          </a:p>
          <a:p>
            <a:endParaRPr lang="en-US" sz="1100" dirty="0"/>
          </a:p>
          <a:p>
            <a:endParaRPr lang="en-US" sz="1100" dirty="0"/>
          </a:p>
        </p:txBody>
      </p:sp>
    </p:spTree>
    <p:extLst>
      <p:ext uri="{BB962C8B-B14F-4D97-AF65-F5344CB8AC3E}">
        <p14:creationId xmlns:p14="http://schemas.microsoft.com/office/powerpoint/2010/main" val="3343563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C27A4-15EF-48A9-9AFB-37333E27846E}"/>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075B4BC-A141-7A59-78F5-59F47072D941}"/>
              </a:ext>
            </a:extLst>
          </p:cNvPr>
          <p:cNvGrpSpPr/>
          <p:nvPr/>
        </p:nvGrpSpPr>
        <p:grpSpPr>
          <a:xfrm>
            <a:off x="0" y="1"/>
            <a:ext cx="6857999" cy="1168400"/>
            <a:chOff x="701748" y="108190"/>
            <a:chExt cx="5454507" cy="1318601"/>
          </a:xfrm>
        </p:grpSpPr>
        <p:sp>
          <p:nvSpPr>
            <p:cNvPr id="6" name="TextBox 5">
              <a:extLst>
                <a:ext uri="{FF2B5EF4-FFF2-40B4-BE49-F238E27FC236}">
                  <a16:creationId xmlns:a16="http://schemas.microsoft.com/office/drawing/2014/main" id="{E5109383-35A7-06DC-D625-0637C77C602E}"/>
                </a:ext>
              </a:extLst>
            </p:cNvPr>
            <p:cNvSpPr txBox="1"/>
            <p:nvPr/>
          </p:nvSpPr>
          <p:spPr>
            <a:xfrm>
              <a:off x="701748" y="108190"/>
              <a:ext cx="5454507" cy="1318601"/>
            </a:xfrm>
            <a:prstGeom prst="rect">
              <a:avLst/>
            </a:prstGeom>
            <a:noFill/>
            <a:ln>
              <a:solidFill>
                <a:schemeClr val="accent1"/>
              </a:solidFill>
            </a:ln>
          </p:spPr>
          <p:txBody>
            <a:bodyPr wrap="square" rtlCol="0">
              <a:spAutoFit/>
            </a:bodyPr>
            <a:lstStyle/>
            <a:p>
              <a:pPr algn="ctr">
                <a:buNone/>
                <a:tabLst>
                  <a:tab pos="2743200" algn="ctr"/>
                  <a:tab pos="5486400" algn="r"/>
                </a:tabLst>
              </a:pPr>
              <a:r>
                <a:rPr lang="en-US" sz="1100" b="1" dirty="0">
                  <a:solidFill>
                    <a:srgbClr val="0000FF"/>
                  </a:solidFill>
                  <a:effectLst/>
                  <a:latin typeface="Times New Roman" panose="02020603050405020304" pitchFamily="18" charset="0"/>
                  <a:ea typeface="SimSun" panose="02010600030101010101" pitchFamily="2" charset="-122"/>
                </a:rPr>
                <a:t>ERIC WONG MACHINERY TRANSPORTATION PTE LTD</a:t>
              </a:r>
              <a:endParaRPr lang="en-SG" sz="1100" b="1" dirty="0">
                <a:solidFill>
                  <a:srgbClr val="0000FF"/>
                </a:solidFill>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28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Loop #05-03, </a:t>
              </a:r>
              <a:r>
                <a:rPr lang="en-US" sz="1100" dirty="0" err="1">
                  <a:effectLst/>
                  <a:latin typeface="Times New Roman" panose="02020603050405020304" pitchFamily="18" charset="0"/>
                  <a:ea typeface="SimSun" panose="02010600030101010101" pitchFamily="2" charset="-122"/>
                </a:rPr>
                <a:t>Kranji</a:t>
              </a:r>
              <a:r>
                <a:rPr lang="en-US" sz="1100" dirty="0">
                  <a:effectLst/>
                  <a:latin typeface="Times New Roman" panose="02020603050405020304" pitchFamily="18" charset="0"/>
                  <a:ea typeface="SimSun" panose="02010600030101010101" pitchFamily="2" charset="-122"/>
                </a:rPr>
                <a:t> Green, Singapore 739571</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Tel: 62824175, 62828203, 62826020</a:t>
              </a:r>
              <a:endParaRPr lang="en-SG" sz="1100" dirty="0">
                <a:effectLst/>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rPr>
                <a:t>GST Reg No. : M2-8923804-2</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effectLst/>
                  <a:latin typeface="Times New Roman" panose="02020603050405020304" pitchFamily="18" charset="0"/>
                  <a:ea typeface="SimSun" panose="02010600030101010101" pitchFamily="2" charset="-122"/>
                  <a:hlinkClick r:id="rId2"/>
                </a:rPr>
                <a:t>http://www.ericwong.com</a:t>
              </a:r>
              <a:endParaRPr lang="en-SG" sz="1100" dirty="0">
                <a:latin typeface="Times New Roman" panose="02020603050405020304" pitchFamily="18" charset="0"/>
                <a:ea typeface="SimSun" panose="02010600030101010101" pitchFamily="2" charset="-122"/>
              </a:endParaRPr>
            </a:p>
            <a:p>
              <a:pPr algn="ctr">
                <a:buNone/>
                <a:tabLst>
                  <a:tab pos="2743200" algn="ctr"/>
                  <a:tab pos="5486400" algn="r"/>
                </a:tabLst>
              </a:pPr>
              <a:r>
                <a:rPr lang="en-US" sz="1100" dirty="0">
                  <a:latin typeface="Times New Roman" panose="02020603050405020304" pitchFamily="18" charset="0"/>
                  <a:ea typeface="SimSun" panose="02010600030101010101" pitchFamily="2" charset="-122"/>
                </a:rPr>
                <a:t>E</a:t>
              </a:r>
              <a:r>
                <a:rPr lang="en-US" sz="1100" dirty="0">
                  <a:effectLst/>
                  <a:latin typeface="Times New Roman" panose="02020603050405020304" pitchFamily="18" charset="0"/>
                  <a:ea typeface="SimSun" panose="02010600030101010101" pitchFamily="2" charset="-122"/>
                </a:rPr>
                <a:t>-mail: ewmtpl@gmail.com</a:t>
              </a:r>
              <a:endParaRPr lang="en-SG" sz="1100" dirty="0">
                <a:effectLst/>
                <a:latin typeface="Times New Roman" panose="02020603050405020304" pitchFamily="18" charset="0"/>
                <a:ea typeface="SimSun" panose="02010600030101010101" pitchFamily="2" charset="-122"/>
              </a:endParaRPr>
            </a:p>
            <a:p>
              <a:endParaRPr lang="en-SG" sz="1400" dirty="0"/>
            </a:p>
          </p:txBody>
        </p:sp>
        <p:pic>
          <p:nvPicPr>
            <p:cNvPr id="8" name="Picture 7" descr="A red logo with a white background&#10;&#10;AI-generated content may be incorrect.">
              <a:extLst>
                <a:ext uri="{FF2B5EF4-FFF2-40B4-BE49-F238E27FC236}">
                  <a16:creationId xmlns:a16="http://schemas.microsoft.com/office/drawing/2014/main" id="{840DEE21-AEEF-9037-0E9B-B38D4569E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192" y="150552"/>
              <a:ext cx="726493" cy="1233876"/>
            </a:xfrm>
            <a:prstGeom prst="rect">
              <a:avLst/>
            </a:prstGeom>
          </p:spPr>
        </p:pic>
      </p:grpSp>
      <p:graphicFrame>
        <p:nvGraphicFramePr>
          <p:cNvPr id="9" name="Table 8">
            <a:extLst>
              <a:ext uri="{FF2B5EF4-FFF2-40B4-BE49-F238E27FC236}">
                <a16:creationId xmlns:a16="http://schemas.microsoft.com/office/drawing/2014/main" id="{54474275-93DC-C989-4F3C-BB9C888F655F}"/>
              </a:ext>
            </a:extLst>
          </p:cNvPr>
          <p:cNvGraphicFramePr>
            <a:graphicFrameLocks noGrp="1"/>
          </p:cNvGraphicFramePr>
          <p:nvPr/>
        </p:nvGraphicFramePr>
        <p:xfrm>
          <a:off x="0" y="1168401"/>
          <a:ext cx="6857998" cy="1605983"/>
        </p:xfrm>
        <a:graphic>
          <a:graphicData uri="http://schemas.openxmlformats.org/drawingml/2006/table">
            <a:tbl>
              <a:tblPr firstRow="1" bandRow="1">
                <a:tableStyleId>{5C22544A-7EE6-4342-B048-85BDC9FD1C3A}</a:tableStyleId>
              </a:tblPr>
              <a:tblGrid>
                <a:gridCol w="3428999">
                  <a:extLst>
                    <a:ext uri="{9D8B030D-6E8A-4147-A177-3AD203B41FA5}">
                      <a16:colId xmlns:a16="http://schemas.microsoft.com/office/drawing/2014/main" val="3963200382"/>
                    </a:ext>
                  </a:extLst>
                </a:gridCol>
                <a:gridCol w="3428999">
                  <a:extLst>
                    <a:ext uri="{9D8B030D-6E8A-4147-A177-3AD203B41FA5}">
                      <a16:colId xmlns:a16="http://schemas.microsoft.com/office/drawing/2014/main" val="281614988"/>
                    </a:ext>
                  </a:extLst>
                </a:gridCol>
              </a:tblGrid>
              <a:tr h="370840">
                <a:tc gridSpan="2">
                  <a:txBody>
                    <a:bodyPr/>
                    <a:lstStyle/>
                    <a:p>
                      <a:pPr algn="ctr"/>
                      <a:r>
                        <a:rPr lang="en-SG" dirty="0"/>
                        <a:t>Customer / Tenant Company: KY Sub Assembly Pte Ltd</a:t>
                      </a:r>
                    </a:p>
                  </a:txBody>
                  <a:tcPr/>
                </a:tc>
                <a:tc hMerge="1">
                  <a:txBody>
                    <a:bodyPr/>
                    <a:lstStyle/>
                    <a:p>
                      <a:endParaRPr lang="en-SG" dirty="0"/>
                    </a:p>
                  </a:txBody>
                  <a:tcPr/>
                </a:tc>
                <a:extLst>
                  <a:ext uri="{0D108BD9-81ED-4DB2-BD59-A6C34878D82A}">
                    <a16:rowId xmlns:a16="http://schemas.microsoft.com/office/drawing/2014/main" val="3714705615"/>
                  </a:ext>
                </a:extLst>
              </a:tr>
              <a:tr h="327659">
                <a:tc>
                  <a:txBody>
                    <a:bodyPr/>
                    <a:lstStyle/>
                    <a:p>
                      <a:r>
                        <a:rPr lang="en-SG" sz="1100" dirty="0"/>
                        <a:t>Site Location: 25 Bulim Square</a:t>
                      </a:r>
                    </a:p>
                  </a:txBody>
                  <a:tcPr/>
                </a:tc>
                <a:tc rowSpan="3">
                  <a:txBody>
                    <a:bodyPr/>
                    <a:lstStyle/>
                    <a:p>
                      <a:endParaRPr lang="en-SG" sz="1100" dirty="0"/>
                    </a:p>
                    <a:p>
                      <a:endParaRPr lang="en-SG" sz="1100" dirty="0"/>
                    </a:p>
                    <a:p>
                      <a:endParaRPr lang="en-SG" sz="1100" dirty="0"/>
                    </a:p>
                    <a:p>
                      <a:endParaRPr lang="en-SG" sz="1100" dirty="0"/>
                    </a:p>
                    <a:p>
                      <a:r>
                        <a:rPr lang="en-SG" sz="1100" dirty="0"/>
                        <a:t>Approved By:  Eric Wong (Director)</a:t>
                      </a:r>
                    </a:p>
                  </a:txBody>
                  <a:tcPr>
                    <a:solidFill>
                      <a:schemeClr val="bg1"/>
                    </a:solidFill>
                  </a:tcPr>
                </a:tc>
                <a:extLst>
                  <a:ext uri="{0D108BD9-81ED-4DB2-BD59-A6C34878D82A}">
                    <a16:rowId xmlns:a16="http://schemas.microsoft.com/office/drawing/2014/main" val="2691564520"/>
                  </a:ext>
                </a:extLst>
              </a:tr>
              <a:tr h="343322">
                <a:tc>
                  <a:txBody>
                    <a:bodyPr/>
                    <a:lstStyle/>
                    <a:p>
                      <a:r>
                        <a:rPr lang="en-SG" sz="1100" dirty="0"/>
                        <a:t>Process: Lifting and Moving of Machinery on Platform</a:t>
                      </a:r>
                    </a:p>
                  </a:txBody>
                  <a:tcPr/>
                </a:tc>
                <a:tc vMerge="1">
                  <a:txBody>
                    <a:bodyPr/>
                    <a:lstStyle/>
                    <a:p>
                      <a:endParaRPr lang="en-SG" dirty="0"/>
                    </a:p>
                  </a:txBody>
                  <a:tcPr/>
                </a:tc>
                <a:extLst>
                  <a:ext uri="{0D108BD9-81ED-4DB2-BD59-A6C34878D82A}">
                    <a16:rowId xmlns:a16="http://schemas.microsoft.com/office/drawing/2014/main" val="784894797"/>
                  </a:ext>
                </a:extLst>
              </a:tr>
              <a:tr h="268395">
                <a:tc>
                  <a:txBody>
                    <a:bodyPr/>
                    <a:lstStyle/>
                    <a:p>
                      <a:r>
                        <a:rPr lang="en-SG" sz="1100" dirty="0"/>
                        <a:t>Prepared by: Kevin Wong</a:t>
                      </a:r>
                    </a:p>
                  </a:txBody>
                  <a:tcPr/>
                </a:tc>
                <a:tc vMerge="1">
                  <a:txBody>
                    <a:bodyPr/>
                    <a:lstStyle/>
                    <a:p>
                      <a:endParaRPr lang="en-SG" dirty="0"/>
                    </a:p>
                  </a:txBody>
                  <a:tcPr/>
                </a:tc>
                <a:extLst>
                  <a:ext uri="{0D108BD9-81ED-4DB2-BD59-A6C34878D82A}">
                    <a16:rowId xmlns:a16="http://schemas.microsoft.com/office/drawing/2014/main" val="3405944484"/>
                  </a:ext>
                </a:extLst>
              </a:tr>
              <a:tr h="295767">
                <a:tc>
                  <a:txBody>
                    <a:bodyPr/>
                    <a:lstStyle/>
                    <a:p>
                      <a:r>
                        <a:rPr lang="en-SG" sz="1100" dirty="0"/>
                        <a:t>Last Review Date: 24.02.2025</a:t>
                      </a:r>
                    </a:p>
                  </a:txBody>
                  <a:tcPr/>
                </a:tc>
                <a:tc>
                  <a:txBody>
                    <a:bodyPr/>
                    <a:lstStyle/>
                    <a:p>
                      <a:r>
                        <a:rPr lang="en-SG" sz="1100" dirty="0"/>
                        <a:t>Next Review Date: 23.02.2026</a:t>
                      </a:r>
                    </a:p>
                  </a:txBody>
                  <a:tcPr/>
                </a:tc>
                <a:extLst>
                  <a:ext uri="{0D108BD9-81ED-4DB2-BD59-A6C34878D82A}">
                    <a16:rowId xmlns:a16="http://schemas.microsoft.com/office/drawing/2014/main" val="3430118298"/>
                  </a:ext>
                </a:extLst>
              </a:tr>
            </a:tbl>
          </a:graphicData>
        </a:graphic>
      </p:graphicFrame>
      <p:pic>
        <p:nvPicPr>
          <p:cNvPr id="11" name="Picture 10" descr="A close-up of a stamp&#10;&#10;AI-generated content may be incorrect.">
            <a:extLst>
              <a:ext uri="{FF2B5EF4-FFF2-40B4-BE49-F238E27FC236}">
                <a16:creationId xmlns:a16="http://schemas.microsoft.com/office/drawing/2014/main" id="{F4CB5B55-57A9-8AB5-8D7E-D69A2C0A2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548" y="1522307"/>
            <a:ext cx="693638" cy="764310"/>
          </a:xfrm>
          <a:prstGeom prst="rect">
            <a:avLst/>
          </a:prstGeom>
        </p:spPr>
      </p:pic>
      <p:sp>
        <p:nvSpPr>
          <p:cNvPr id="91" name="Slide Number Placeholder 90">
            <a:extLst>
              <a:ext uri="{FF2B5EF4-FFF2-40B4-BE49-F238E27FC236}">
                <a16:creationId xmlns:a16="http://schemas.microsoft.com/office/drawing/2014/main" id="{145DC7E6-92F7-BBE8-89B4-77200332AF82}"/>
              </a:ext>
            </a:extLst>
          </p:cNvPr>
          <p:cNvSpPr>
            <a:spLocks noGrp="1"/>
          </p:cNvSpPr>
          <p:nvPr>
            <p:ph type="sldNum" sz="quarter" idx="12"/>
          </p:nvPr>
        </p:nvSpPr>
        <p:spPr/>
        <p:txBody>
          <a:bodyPr/>
          <a:lstStyle/>
          <a:p>
            <a:fld id="{F0052729-9336-4E5B-BC69-5177B8B6DD05}" type="slidenum">
              <a:rPr lang="en-SG" smtClean="0"/>
              <a:t>16</a:t>
            </a:fld>
            <a:endParaRPr lang="en-SG"/>
          </a:p>
        </p:txBody>
      </p:sp>
      <p:sp>
        <p:nvSpPr>
          <p:cNvPr id="20" name="TextBox 19">
            <a:extLst>
              <a:ext uri="{FF2B5EF4-FFF2-40B4-BE49-F238E27FC236}">
                <a16:creationId xmlns:a16="http://schemas.microsoft.com/office/drawing/2014/main" id="{4F8D069E-07C7-F581-1D8F-B15D8479802C}"/>
              </a:ext>
            </a:extLst>
          </p:cNvPr>
          <p:cNvSpPr txBox="1"/>
          <p:nvPr/>
        </p:nvSpPr>
        <p:spPr>
          <a:xfrm>
            <a:off x="114299" y="2811921"/>
            <a:ext cx="6657975" cy="4247317"/>
          </a:xfrm>
          <a:prstGeom prst="rect">
            <a:avLst/>
          </a:prstGeom>
          <a:noFill/>
        </p:spPr>
        <p:txBody>
          <a:bodyPr wrap="square">
            <a:spAutoFit/>
          </a:bodyPr>
          <a:lstStyle/>
          <a:p>
            <a:pPr algn="ctr"/>
            <a:endParaRPr lang="en-US" sz="1000" b="1" u="sng" dirty="0">
              <a:latin typeface="Arial" panose="020B0604020202020204" pitchFamily="34" charset="0"/>
              <a:cs typeface="Arial" panose="020B0604020202020204" pitchFamily="34" charset="0"/>
            </a:endParaRPr>
          </a:p>
          <a:p>
            <a:pPr algn="ctr"/>
            <a:r>
              <a:rPr lang="en-US" sz="1000" b="1" u="sng" dirty="0">
                <a:latin typeface="Arial" panose="020B0604020202020204" pitchFamily="34" charset="0"/>
                <a:cs typeface="Arial" panose="020B0604020202020204" pitchFamily="34" charset="0"/>
              </a:rPr>
              <a:t>22.0 Emergency procedures </a:t>
            </a:r>
          </a:p>
          <a:p>
            <a:pPr algn="ctr"/>
            <a:endParaRPr lang="en-US" sz="1000" b="1" u="sng" dirty="0">
              <a:latin typeface="Arial" panose="020B0604020202020204" pitchFamily="34" charset="0"/>
              <a:cs typeface="Arial" panose="020B0604020202020204" pitchFamily="34" charset="0"/>
            </a:endParaRPr>
          </a:p>
          <a:p>
            <a:pPr algn="ctr"/>
            <a:endParaRPr lang="en-US" sz="1000" b="1" u="sng"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22.1 In case of un-usual noise in the mechanical system, STOP the crane immediately and report the supervisor. </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22.2 In case accident / incident call supervisor / manager immediately. </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22.3 Hotline for Police 999 / SCDF 995 </a:t>
            </a: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r>
              <a:rPr lang="en-US" sz="1000" b="1" u="sng" dirty="0">
                <a:latin typeface="Arial" panose="020B0604020202020204" pitchFamily="34" charset="0"/>
                <a:cs typeface="Arial" panose="020B0604020202020204" pitchFamily="34" charset="0"/>
              </a:rPr>
              <a:t>References :</a:t>
            </a: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1. Workplace Safety And Health Act </a:t>
            </a:r>
          </a:p>
          <a:p>
            <a:r>
              <a:rPr lang="en-US" sz="1000" dirty="0">
                <a:latin typeface="Arial" panose="020B0604020202020204" pitchFamily="34" charset="0"/>
                <a:cs typeface="Arial" panose="020B0604020202020204" pitchFamily="34" charset="0"/>
              </a:rPr>
              <a:t>2. Workplace Safety And Health (General Provisions) Regulations </a:t>
            </a:r>
          </a:p>
          <a:p>
            <a:r>
              <a:rPr lang="en-US" sz="1000" dirty="0">
                <a:latin typeface="Arial" panose="020B0604020202020204" pitchFamily="34" charset="0"/>
                <a:cs typeface="Arial" panose="020B0604020202020204" pitchFamily="34" charset="0"/>
              </a:rPr>
              <a:t>3. Workplace Safety And Health (Construction) regulations 2007 </a:t>
            </a:r>
          </a:p>
          <a:p>
            <a:r>
              <a:rPr lang="en-US" sz="1000" dirty="0">
                <a:latin typeface="Arial" panose="020B0604020202020204" pitchFamily="34" charset="0"/>
                <a:cs typeface="Arial" panose="020B0604020202020204" pitchFamily="34" charset="0"/>
              </a:rPr>
              <a:t>4. Workplace Safety And Health (WAH) regulations 2013 </a:t>
            </a:r>
          </a:p>
          <a:p>
            <a:r>
              <a:rPr lang="en-US" sz="1000" dirty="0">
                <a:latin typeface="Arial" panose="020B0604020202020204" pitchFamily="34" charset="0"/>
                <a:cs typeface="Arial" panose="020B0604020202020204" pitchFamily="34" charset="0"/>
              </a:rPr>
              <a:t>5. Code of Practice for Safe Lifting Operations at the Workplace</a:t>
            </a:r>
          </a:p>
          <a:p>
            <a:r>
              <a:rPr lang="en-US" sz="1000" dirty="0">
                <a:latin typeface="Arial" panose="020B0604020202020204" pitchFamily="34" charset="0"/>
                <a:cs typeface="Arial" panose="020B0604020202020204" pitchFamily="34" charset="0"/>
              </a:rPr>
              <a:t>6. Singapore Standard SS 559: 2010 Code of Practice for Safe Use of Tower Cranes</a:t>
            </a:r>
            <a:endParaRPr lang="en-SG"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02241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586</TotalTime>
  <Words>6029</Words>
  <Application>Microsoft Office PowerPoint</Application>
  <PresentationFormat>A4 Paper (210x297 mm)</PresentationFormat>
  <Paragraphs>666</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Arial Narrow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Wong</dc:creator>
  <cp:lastModifiedBy>a5004</cp:lastModifiedBy>
  <cp:revision>5</cp:revision>
  <dcterms:created xsi:type="dcterms:W3CDTF">2025-02-25T02:52:36Z</dcterms:created>
  <dcterms:modified xsi:type="dcterms:W3CDTF">2026-09-01T16:07:06Z</dcterms:modified>
</cp:coreProperties>
</file>